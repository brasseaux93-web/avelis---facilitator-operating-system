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USD billions</c:v>
                </c:pt>
              </c:strCache>
            </c:strRef>
          </c:tx>
          <c:spPr>
            <a:solidFill>
              <a:srgbClr val="5AAAB0"/>
            </a:solidFill>
            <a:ln>
              <a:noFill/>
            </a:ln>
          </c:spPr>
          <c:dPt>
            <c:idx val="0"/>
            <c:spPr>
              <a:solidFill>
                <a:srgbClr val="5AAAB0"/>
              </a:solidFill>
              <a:ln>
                <a:noFill/>
              </a:ln>
            </c:spPr>
          </c:dPt>
          <c:dPt>
            <c:idx val="1"/>
            <c:spPr>
              <a:solidFill>
                <a:srgbClr val="8FC9CD"/>
              </a:solidFill>
              <a:ln>
                <a:noFill/>
              </a:ln>
            </c:spPr>
          </c:dPt>
          <c:dPt>
            <c:idx val="2"/>
            <c:spPr>
              <a:solidFill>
                <a:srgbClr val="3D7A80"/>
              </a:solidFill>
              <a:ln>
                <a:noFill/>
              </a:ln>
            </c:spPr>
          </c:dPt>
          <c:dPt>
            <c:idx val="3"/>
            <c:spPr>
              <a:solidFill>
                <a:srgbClr val="2F5E63"/>
              </a:solidFill>
              <a:ln>
                <a:noFill/>
              </a:ln>
            </c:spPr>
          </c:dPt>
          <c:cat>
            <c:strRef>
              <c:f>Sheet1!$A$2:$A$5</c:f>
              <c:strCache>
                <c:ptCount val="4"/>
                <c:pt idx="0">
                  <c:v>ODR '26</c:v>
                </c:pt>
                <c:pt idx="1">
                  <c:v>AI med. '25</c:v>
                </c:pt>
                <c:pt idx="2">
                  <c:v>AI med. '34</c:v>
                </c:pt>
                <c:pt idx="3">
                  <c:v>NA workplace '26</c:v>
                </c:pt>
              </c:strCache>
            </c:strRef>
          </c:cat>
          <c:val>
            <c:numRef>
              <c:f>Sheet1!$B$2:$B$5</c:f>
              <c:numCache>
                <c:formatCode>General</c:formatCode>
                <c:ptCount val="4"/>
                <c:pt idx="0">
                  <c:v>2.45</c:v>
                </c:pt>
                <c:pt idx="1">
                  <c:v>1.8</c:v>
                </c:pt>
                <c:pt idx="2">
                  <c:v>9.4</c:v>
                </c:pt>
                <c:pt idx="3">
                  <c:v>3.96</c:v>
                </c:pt>
              </c:numCache>
            </c:numRef>
          </c:val>
        </c:ser>
        <c:dLbls>
          <c:numFmt formatCode="&quot;$&quot;#,##0.0" sourceLinked="0"/>
          <c:txPr>
            <a:bodyPr/>
            <a:lstStyle/>
            <a:p>
              <a:pPr>
                <a:defRPr sz="1000" b="1">
                  <a:solidFill>
                    <a:srgbClr val="EDECE4"/>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crossAx val="-2113994440"/>
        <c:crosses val="autoZero"/>
        <c:auto val="1"/>
        <c:lblAlgn val="ctr"/>
        <c:lblOffset val="100"/>
        <c:noMultiLvlLbl val="0"/>
        <c:spPr>
          <a:noFill/>
          <a:ln w="6350">
            <a:solidFill>
              <a:srgbClr val="3A3C48"/>
            </a:solidFill>
          </a:ln>
        </c:spPr>
        <c:txPr>
          <a:bodyPr/>
          <a:lstStyle/>
          <a:p>
            <a:pPr>
              <a:defRPr sz="1000" b="0">
                <a:solidFill>
                  <a:srgbClr val="787C88"/>
                </a:solidFill>
                <a:latin typeface="Calibri"/>
              </a:defRPr>
            </a:pPr>
            <a:endParaRPr lang="en-US"/>
          </a:p>
        </c:txPr>
      </c:catAx>
      <c:valAx>
        <c:axId val="-2113994440"/>
        <c:scaling/>
        <c:delete val="0"/>
        <c:axPos val="l"/>
        <c:majorGridlines>
          <c:spPr>
            <a:noFill/>
            <a:ln w="6350">
              <a:solidFill>
                <a:srgbClr val="3A3C48"/>
              </a:solidFill>
            </a:ln>
          </c:spPr>
        </c:majorGridlines>
        <c:numFmt formatCode="&quot;$&quot;#,##0.0" sourceLinked="0"/>
        <c:majorTickMark val="none"/>
        <c:minorTickMark val="none"/>
        <c:tickLblPos val="nextTo"/>
        <c:crossAx val="-2068027336"/>
        <c:crosses val="autoZero"/>
        <c:spPr>
          <a:noFill/>
          <a:ln w="6350">
            <a:solidFill>
              <a:srgbClr val="3A3C48"/>
            </a:solidFill>
          </a:ln>
        </c:spPr>
        <c:txPr>
          <a:bodyPr/>
          <a:lstStyle/>
          <a:p>
            <a:pPr>
              <a:defRPr sz="1000" b="0">
                <a:solidFill>
                  <a:srgbClr val="787C88"/>
                </a:solidFill>
                <a:latin typeface="Calibri"/>
              </a:defRPr>
            </a:pPr>
            <a:endParaRPr lang="en-US"/>
          </a:p>
        </c:txPr>
      </c:valAx>
      <c:spPr>
        <a:solidFill>
          <a:srgbClr val="22232C"/>
        </a:solidFill>
        <a:ln w="12700">
          <a:noFill/>
        </a:ln>
      </c:spPr>
    </c:plotArea>
    <c:dispBlanksAs val="gap"/>
  </c:chart>
  <c:txPr>
    <a:bodyPr/>
    <a:lstStyle/>
    <a:p>
      <a:pPr>
        <a:defRPr sz="1800"/>
      </a:pPr>
      <a:endParaRPr lang="en-US"/>
    </a:p>
  </c:txPr>
  <c:externalData r:id="rId1">
    <c:autoUpdate val="0"/>
  </c:externalData>
  <c:spPr>
    <a:solidFill>
      <a:srgbClr val="14141C"/>
    </a:solidFill>
    <a:ln w="12700">
      <a:noFill/>
    </a:ln>
  </c:spPr>
  <c:roundedCorners val="0"/>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lineChart>
        <c:grouping val="standard"/>
        <c:varyColors val="0"/>
        <c:ser>
          <c:idx val="0"/>
          <c:order val="0"/>
          <c:tx>
            <c:strRef>
              <c:f>Sheet1!$B$1</c:f>
              <c:strCache>
                <c:ptCount val="1"/>
                <c:pt idx="0">
                  <c:v>Bear</c:v>
                </c:pt>
              </c:strCache>
            </c:strRef>
          </c:tx>
          <c:spPr>
            <a:ln w="28575">
              <a:solidFill>
                <a:srgbClr val="787C88"/>
              </a:solidFill>
            </a:ln>
          </c:spPr>
          <c:marker>
            <c:symbol val="circle"/>
            <c:size val="7"/>
            <c:spPr>
              <a:solidFill>
                <a:srgbClr val="787C88"/>
              </a:solidFill>
              <a:ln>
                <a:solidFill>
                  <a:srgbClr val="787C88"/>
                </a:solidFill>
              </a:ln>
            </c:spPr>
          </c:marker>
          <c:cat>
            <c:strRef>
              <c:f>Sheet1!$A$2:$A$6</c:f>
              <c:strCache>
                <c:ptCount val="5"/>
                <c:pt idx="0">
                  <c:v>FY27</c:v>
                </c:pt>
                <c:pt idx="1">
                  <c:v>FY28</c:v>
                </c:pt>
                <c:pt idx="2">
                  <c:v>FY29</c:v>
                </c:pt>
                <c:pt idx="3">
                  <c:v>FY30</c:v>
                </c:pt>
                <c:pt idx="4">
                  <c:v>FY31</c:v>
                </c:pt>
              </c:strCache>
            </c:strRef>
          </c:cat>
          <c:val>
            <c:numRef>
              <c:f>Sheet1!$B$2:$B$6</c:f>
              <c:numCache>
                <c:formatCode>General</c:formatCode>
                <c:ptCount val="5"/>
                <c:pt idx="0">
                  <c:v>0.18</c:v>
                </c:pt>
                <c:pt idx="1">
                  <c:v>0.52</c:v>
                </c:pt>
                <c:pt idx="2">
                  <c:v>1.5</c:v>
                </c:pt>
                <c:pt idx="3">
                  <c:v>3.4</c:v>
                </c:pt>
                <c:pt idx="4">
                  <c:v>6.8</c:v>
                </c:pt>
              </c:numCache>
            </c:numRef>
          </c:val>
          <c:smooth/>
        </c:ser>
        <c:ser>
          <c:idx val="1"/>
          <c:order val="1"/>
          <c:tx>
            <c:strRef>
              <c:f>Sheet1!$C$1</c:f>
              <c:strCache>
                <c:ptCount val="1"/>
                <c:pt idx="0">
                  <c:v>Base</c:v>
                </c:pt>
              </c:strCache>
            </c:strRef>
          </c:tx>
          <c:spPr>
            <a:ln w="28575">
              <a:solidFill>
                <a:srgbClr val="5AAAB0"/>
              </a:solidFill>
            </a:ln>
          </c:spPr>
          <c:marker>
            <c:symbol val="circle"/>
            <c:size val="7"/>
            <c:spPr>
              <a:solidFill>
                <a:srgbClr val="5AAAB0"/>
              </a:solidFill>
              <a:ln>
                <a:solidFill>
                  <a:srgbClr val="5AAAB0"/>
                </a:solidFill>
              </a:ln>
            </c:spPr>
          </c:marker>
          <c:cat>
            <c:strRef>
              <c:f>Sheet1!$A$2:$A$6</c:f>
              <c:strCache>
                <c:ptCount val="5"/>
                <c:pt idx="0">
                  <c:v>FY27</c:v>
                </c:pt>
                <c:pt idx="1">
                  <c:v>FY28</c:v>
                </c:pt>
                <c:pt idx="2">
                  <c:v>FY29</c:v>
                </c:pt>
                <c:pt idx="3">
                  <c:v>FY30</c:v>
                </c:pt>
                <c:pt idx="4">
                  <c:v>FY31</c:v>
                </c:pt>
              </c:strCache>
            </c:strRef>
          </c:cat>
          <c:val>
            <c:numRef>
              <c:f>Sheet1!$C$2:$C$6</c:f>
              <c:numCache>
                <c:formatCode>General</c:formatCode>
                <c:ptCount val="5"/>
                <c:pt idx="0">
                  <c:v>0.36</c:v>
                </c:pt>
                <c:pt idx="1">
                  <c:v>1.15</c:v>
                </c:pt>
                <c:pt idx="2">
                  <c:v>3.4</c:v>
                </c:pt>
                <c:pt idx="3">
                  <c:v>7.4</c:v>
                </c:pt>
                <c:pt idx="4">
                  <c:v>14.8</c:v>
                </c:pt>
              </c:numCache>
            </c:numRef>
          </c:val>
          <c:smooth/>
        </c:ser>
        <c:marker val="1"/>
        <c:smooth val="0"/>
        <c:axId val="2118791784"/>
        <c:axId val="2140495176"/>
      </c:lineChart>
      <c:catAx>
        <c:axId val="2118791784"/>
        <c:scaling>
          <c:orientation val="minMax"/>
        </c:scaling>
        <c:delete val="0"/>
        <c:axPos val="b"/>
        <c:majorTickMark val="none"/>
        <c:minorTickMark val="none"/>
        <c:tickLblPos val="nextTo"/>
        <c:crossAx val="2140495176"/>
        <c:crosses val="autoZero"/>
        <c:auto val="1"/>
        <c:lblAlgn val="ctr"/>
        <c:lblOffset val="100"/>
        <c:noMultiLvlLbl val="0"/>
        <c:spPr>
          <a:noFill/>
          <a:ln w="6350">
            <a:solidFill>
              <a:srgbClr val="3A3C48"/>
            </a:solidFill>
          </a:ln>
        </c:spPr>
        <c:txPr>
          <a:bodyPr/>
          <a:lstStyle/>
          <a:p>
            <a:pPr>
              <a:defRPr sz="1000" b="0">
                <a:solidFill>
                  <a:srgbClr val="787C88"/>
                </a:solidFill>
                <a:latin typeface="Calibri"/>
              </a:defRPr>
            </a:pPr>
            <a:endParaRPr lang="en-US"/>
          </a:p>
        </c:txPr>
      </c:catAx>
      <c:valAx>
        <c:axId val="2140495176"/>
        <c:scaling/>
        <c:delete val="0"/>
        <c:axPos val="l"/>
        <c:majorGridlines>
          <c:spPr>
            <a:noFill/>
            <a:ln w="6350">
              <a:solidFill>
                <a:srgbClr val="3A3C48"/>
              </a:solidFill>
            </a:ln>
          </c:spPr>
        </c:majorGridlines>
        <c:numFmt formatCode="0.0" sourceLinked="0"/>
        <c:majorTickMark val="none"/>
        <c:minorTickMark val="none"/>
        <c:tickLblPos val="nextTo"/>
        <c:crossAx val="2118791784"/>
        <c:crosses val="autoZero"/>
        <c:spPr>
          <a:noFill/>
          <a:ln w="6350">
            <a:solidFill>
              <a:srgbClr val="3A3C48"/>
            </a:solidFill>
          </a:ln>
        </c:spPr>
        <c:txPr>
          <a:bodyPr/>
          <a:lstStyle/>
          <a:p>
            <a:pPr>
              <a:defRPr sz="1000" b="0">
                <a:solidFill>
                  <a:srgbClr val="787C88"/>
                </a:solidFill>
                <a:latin typeface="Calibri"/>
              </a:defRPr>
            </a:pPr>
            <a:endParaRPr lang="en-US"/>
          </a:p>
        </c:txPr>
      </c:valAx>
      <c:spPr>
        <a:solidFill>
          <a:srgbClr val="22232C"/>
        </a:solidFill>
        <a:ln w="12700">
          <a:noFill/>
        </a:ln>
      </c:spPr>
    </c:plotArea>
    <c:legend>
      <c:legendPos val="b"/>
      <c:layout/>
      <c:overlay val="0"/>
      <c:spPr>
        <a:noFill/>
        <a:ln w="12700">
          <a:noFill/>
        </a:ln>
      </c:spPr>
      <c:txPr>
        <a:bodyPr/>
        <a:lstStyle/>
        <a:p>
          <a:pPr>
            <a:defRPr sz="1000" b="0">
              <a:solidFill>
                <a:srgbClr val="A8ACB8"/>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spPr>
    <a:solidFill>
      <a:srgbClr val="14141C"/>
    </a:solidFill>
    <a:ln w="12700">
      <a:noFill/>
    </a:ln>
  </c:spPr>
  <c:roundedCorners val="0"/>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doughnutChart>
        <c:varyColors val="1"/>
        <c:ser>
          <c:idx val="0"/>
          <c:order val="0"/>
          <c:tx>
            <c:strRef>
              <c:f>Sheet1!$B$1</c:f>
              <c:strCache>
                <c:ptCount val="1"/>
                <c:pt idx="0">
                  <c:v>$k</c:v>
                </c:pt>
              </c:strCache>
            </c:strRef>
          </c:tx>
          <c:spPr>
            <a:solidFill>
              <a:srgbClr val="5AAAB0"/>
            </a:solidFill>
            <a:ln>
              <a:noFill/>
            </a:ln>
          </c:spPr>
          <c:dPt>
            <c:idx val="0"/>
            <c:spPr>
              <a:solidFill>
                <a:srgbClr val="5AAAB0"/>
              </a:solidFill>
              <a:ln>
                <a:noFill/>
              </a:ln>
            </c:spPr>
          </c:dPt>
          <c:dPt>
            <c:idx val="1"/>
            <c:spPr>
              <a:solidFill>
                <a:srgbClr val="8FC9CD"/>
              </a:solidFill>
              <a:ln>
                <a:noFill/>
              </a:ln>
            </c:spPr>
          </c:dPt>
          <c:dPt>
            <c:idx val="2"/>
            <c:spPr>
              <a:solidFill>
                <a:srgbClr val="3D7A80"/>
              </a:solidFill>
              <a:ln>
                <a:noFill/>
              </a:ln>
            </c:spPr>
          </c:dPt>
          <c:dPt>
            <c:idx val="3"/>
            <c:spPr>
              <a:solidFill>
                <a:srgbClr val="2F5E63"/>
              </a:solidFill>
              <a:ln>
                <a:noFill/>
              </a:ln>
            </c:spPr>
          </c:dPt>
          <c:cat>
            <c:strRef>
              <c:f>Sheet1!$A$2:$A$5</c:f>
              <c:strCache>
                <c:ptCount val="4"/>
                <c:pt idx="0">
                  <c:v>Engineering</c:v>
                </c:pt>
                <c:pt idx="1">
                  <c:v>Sales</c:v>
                </c:pt>
                <c:pt idx="2">
                  <c:v>Legal</c:v>
                </c:pt>
                <c:pt idx="3">
                  <c:v>Infra</c:v>
                </c:pt>
              </c:strCache>
            </c:strRef>
          </c:cat>
          <c:val>
            <c:numRef>
              <c:f>Sheet1!$B$2:$B$5</c:f>
              <c:numCache>
                <c:formatCode>General</c:formatCode>
                <c:ptCount val="4"/>
                <c:pt idx="0">
                  <c:v>900</c:v>
                </c:pt>
                <c:pt idx="1">
                  <c:v>500</c:v>
                </c:pt>
                <c:pt idx="2">
                  <c:v>300</c:v>
                </c:pt>
                <c:pt idx="3">
                  <c:v>300</c:v>
                </c:pt>
              </c:numCache>
            </c:numRef>
          </c:val>
        </c:ser>
        <c:dLbls>
          <c:numFmt formatCode="&quot;$&quot;#,##0&quot;k&quot;" sourceLinked="0"/>
          <c:txPr>
            <a:bodyPr/>
            <a:lstStyle/>
            <a:p>
              <a:pPr>
                <a:defRPr sz="1000" b="1">
                  <a:solidFill>
                    <a:srgbClr val="EDECE4"/>
                  </a:solidFill>
                </a:defRPr>
              </a:pPr>
            </a:p>
          </c:txPr>
          <c:dLblPos val="outEnd"/>
          <c:showLegendKey val="0"/>
          <c:showVal val="0"/>
          <c:showCatName val="0"/>
          <c:showSerName val="0"/>
          <c:showPercent val="0"/>
          <c:showBubbleSize val="0"/>
          <c:showLeaderLines val="1"/>
        </c:dLbls>
        <c:firstSliceAng val="0"/>
        <c:holeSize val="62"/>
      </c:doughnutChart>
      <c:spPr>
        <a:solidFill>
          <a:srgbClr val="22232C"/>
        </a:solidFill>
        <a:ln w="12700">
          <a:noFill/>
        </a:ln>
      </c:spPr>
    </c:plotArea>
    <c:legend>
      <c:legendPos val="b"/>
      <c:layout/>
      <c:overlay val="0"/>
      <c:spPr>
        <a:noFill/>
        <a:ln w="12700">
          <a:noFill/>
        </a:ln>
      </c:spPr>
      <c:txPr>
        <a:bodyPr/>
        <a:lstStyle/>
        <a:p>
          <a:pPr>
            <a:defRPr sz="1000" b="0">
              <a:solidFill>
                <a:srgbClr val="A8ACB8"/>
              </a:solidFill>
              <a:latin typeface="Calibri"/>
            </a:defRPr>
          </a:pPr>
          <a:endParaRPr lang="en-US"/>
        </a:p>
      </c:txPr>
    </c:legend>
    <c:plotVisOnly val="1"/>
    <c:dispBlanksAs val="gap"/>
    <c:showDLblsOverMax val="0"/>
  </c:chart>
  <c:txPr>
    <a:bodyPr/>
    <a:lstStyle/>
    <a:p>
      <a:pPr>
        <a:defRPr sz="1800"/>
      </a:pPr>
      <a:endParaRPr/>
    </a:p>
  </c:txPr>
  <c:externalData r:id="rId1">
    <c:autoUpdate val="0"/>
  </c:externalData>
  <c:spPr>
    <a:solidFill>
      <a:srgbClr val="14141C"/>
    </a:solidFill>
    <a:ln w="1270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Category: AI conflict resolution in private rooms. Not Zoom. Not an AI judge. Not consumer mediation. Tyler Brasseaux, founder and systems architect. Independent engineer — sole designer of the stack. The agent is disclosed. Groq sees a RAM window while the room is open. Avelis does not keep the file.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Teams, and Meet now treat transcript and AI summary as features. That is the opposite of what shuttle diplomacy, ombuds work, and settlement talks require. Do not claim legal privilege. The problem is operational: stored speech changes what people will say, and it creates a record the host did not intend to keep.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$9.4B AI mediation as Avelis revenue. That category includes consumer bots and AI judges. Avelis sells seats to professional facilitators who need a private live room plus a disclosed agent. JAMS/ALM 90% mediation use is demand for the work, not for our ARR. AAA AI Arbitrator is the closest well-funded analogue and it refuses live conversation — that is the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constitution. Session: draft → open → live room with a disclosed conflict agent → close (room destroyed) → retention → destruction receipt. Parties have no accounts. Groq may see a RAM window while open. No model writes the ledger.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Live room: not stored. Ledger: closed vocabulary, encrypted, destroyed at expiry. Joint minute: optional, facilitator-authored, not a transcript, can be wiped. Destruction receipt: indefinite. Do not say delete forever. Do not say legally binding. Parties do not have standing accounts; delivery emails are wiped on join.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Top-right is Avelis: process without stored speech. Bottom-left is Zoom. Top-left is HR Acuity / Relativity — they keep both. Bottom-right is Signal — no process OS. We are not competing with eDiscovery; we are the alternative to accidentally feeding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Buyers: ADR providers, law-firm neutrals and settlement counsel, corporate ombuds, campus/IO ombuds, selected public institutions. Parties never create accounts and never pay. Sales motion is evaluation-gated, DPA-first. Long cycle, high trust, high ACV.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Matches the repo: ENABLE_PUBLIC_REGISTER is off in production. Request evaluation is the CTA. Seed via design partners, then ADR networks and AmLaw employment practices. Founder-led until FY29 AE. Do not promise virality.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per-party metering that would create a directory incentive. ACV mix: practice $14.4k, firm $54k, corporate $84k, dedicated host $160k year-one. Blended ACV rises as mix shifts to firms and corporate hosts. Gross margin 80%+ after FY28 because speech is not stored — infra is API + memory-only room, not media archive.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 $0.36 → $1.15 → $3.4 → $7.4 → $14.8M. Cash-flow positive FY29. Logos 12 → 220. ~10% of a $146M SAM by FY31. Not a take of the $9.4B AI-mediation headline. Seed $2.0M buys 18 months to ~$1M ARR. AI OS pricing, not consumer seats.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Adult in the room. $9.4B AI mediation includes consumer bots and AI judges — we do not claim it. Working TAM $980M from ODR software ($2.45B 2026) plus NA workplace conflict software slice and facilitator-agent attach. SAM $146M = 2,800 hosts × $52k. SOM FY31 $14.8M ≈ 10% SAM. If they push for a $50B TAM, decline.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Diligence slide. Memory-only WebSocket room, HMAC tokens, close tears down the room process, facilitator vs participant chrome, register gated, delivery address wiped, ledger hash chain, destruction receipt. Visible conflict agent; Groq sees RAM only. No model writes the ledger. Tests: speech-safety, room-token, ledger, retention, techniques.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systems architect. He designs software that treats non-persistence as a specification, not a policy. Solo founder is a risk — say it. Mitigation: evaluation-gated sales, narrow scope, disclosed agent with written rules, constitution in the repo. Based in the US. Not a lifestyle consumer app.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of funds: 45% engineering (2 hires), 25% institutional sales (1 AE + evaluations), 15% legal/compliance/insurance/DPA, 15% infra and runway reserve. 18-month plan. If they want a consumer growth story, this is the wrong company. Close on evaluation partners, not a launch party. The doughnut is a native PowerPoint chart — editable, not a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required disclosure, not a slogan. Offer the institutional evaluation deck and the financial appendix. Next step: DPA packet and a design-partner session on their matter type.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CONFIDENTIAL  ·  SEPTEMBER 2026</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01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640080"/>
          </a:xfrm>
          <a:prstGeom prst="rect">
            <a:avLst/>
          </a:prstGeom>
          <a:noFill/>
        </p:spPr>
        <p:txBody>
          <a:bodyPr wrap="square" anchor="t"/>
          <a:lstStyle/>
          <a:p>
            <a:pPr algn="l">
              <a:spcBef>
                <a:spcPts val="0"/>
              </a:spcBef>
              <a:spcAft>
                <a:spcPts val="0"/>
              </a:spcAft>
            </a:pPr>
            <a:r>
              <a:rPr sz="3200" b="1">
                <a:solidFill>
                  <a:srgbClr val="EDECE4"/>
                </a:solidFill>
                <a:latin typeface="Calibri"/>
              </a:rPr>
              <a:t>Private rooms for difficult conversations.</a:t>
            </a:r>
          </a:p>
        </p:txBody>
      </p:sp>
      <p:sp>
        <p:nvSpPr>
          <p:cNvPr id="17" name="TextBox 16"/>
          <p:cNvSpPr txBox="1"/>
          <p:nvPr/>
        </p:nvSpPr>
        <p:spPr>
          <a:xfrm>
            <a:off x="502920" y="1481328"/>
            <a:ext cx="11155680" cy="411480"/>
          </a:xfrm>
          <a:prstGeom prst="rect">
            <a:avLst/>
          </a:prstGeom>
          <a:noFill/>
        </p:spPr>
        <p:txBody>
          <a:bodyPr wrap="square" anchor="t"/>
          <a:lstStyle/>
          <a:p>
            <a:pPr algn="l">
              <a:spcBef>
                <a:spcPts val="0"/>
              </a:spcBef>
              <a:spcAft>
                <a:spcPts val="0"/>
              </a:spcAft>
            </a:pPr>
            <a:r>
              <a:rPr sz="2000" b="0">
                <a:solidFill>
                  <a:srgbClr val="5AAAB0"/>
                </a:solidFill>
                <a:latin typeface="Calibri"/>
              </a:rPr>
              <a:t>Avelis sits in the room. Then the talk is gone.</a:t>
            </a:r>
          </a:p>
        </p:txBody>
      </p:sp>
      <p:sp>
        <p:nvSpPr>
          <p:cNvPr id="18" name="TextBox 17"/>
          <p:cNvSpPr txBox="1"/>
          <p:nvPr/>
        </p:nvSpPr>
        <p:spPr>
          <a:xfrm>
            <a:off x="502920" y="2011680"/>
            <a:ext cx="6766560" cy="822960"/>
          </a:xfrm>
          <a:prstGeom prst="rect">
            <a:avLst/>
          </a:prstGeom>
          <a:noFill/>
        </p:spPr>
        <p:txBody>
          <a:bodyPr wrap="square" anchor="t"/>
          <a:lstStyle/>
          <a:p>
            <a:pPr algn="l">
              <a:spcBef>
                <a:spcPts val="0"/>
              </a:spcBef>
              <a:spcAft>
                <a:spcPts val="0"/>
              </a:spcAft>
            </a:pPr>
            <a:r>
              <a:rPr sz="1600" b="0">
                <a:solidFill>
                  <a:srgbClr val="A8ACB8"/>
                </a:solidFill>
                <a:latin typeface="Calibri"/>
              </a:rPr>
              <a:t>A disclosed conflict agent. Named mediation moves. No stored transcript. Process is a ledger. Voice, if used, never reaches Avelis.</a:t>
            </a:r>
          </a:p>
        </p:txBody>
      </p:sp>
      <p:sp>
        <p:nvSpPr>
          <p:cNvPr id="19" name="TextBox 18"/>
          <p:cNvSpPr txBox="1"/>
          <p:nvPr/>
        </p:nvSpPr>
        <p:spPr>
          <a:xfrm>
            <a:off x="502920" y="2971800"/>
            <a:ext cx="6766560" cy="219456"/>
          </a:xfrm>
          <a:prstGeom prst="rect">
            <a:avLst/>
          </a:prstGeom>
          <a:noFill/>
        </p:spPr>
        <p:txBody>
          <a:bodyPr wrap="square" anchor="t"/>
          <a:lstStyle/>
          <a:p>
            <a:pPr algn="l">
              <a:spcBef>
                <a:spcPts val="0"/>
              </a:spcBef>
              <a:spcAft>
                <a:spcPts val="0"/>
              </a:spcAft>
            </a:pPr>
            <a:r>
              <a:rPr sz="900" b="1">
                <a:solidFill>
                  <a:srgbClr val="787C88"/>
                </a:solidFill>
                <a:latin typeface="Calibri"/>
              </a:rPr>
              <a:t>FOUNDER</a:t>
            </a:r>
          </a:p>
        </p:txBody>
      </p:sp>
      <p:sp>
        <p:nvSpPr>
          <p:cNvPr id="20" name="TextBox 19"/>
          <p:cNvSpPr txBox="1"/>
          <p:nvPr/>
        </p:nvSpPr>
        <p:spPr>
          <a:xfrm>
            <a:off x="502920" y="3182112"/>
            <a:ext cx="6766560" cy="329184"/>
          </a:xfrm>
          <a:prstGeom prst="rect">
            <a:avLst/>
          </a:prstGeom>
          <a:noFill/>
        </p:spPr>
        <p:txBody>
          <a:bodyPr wrap="square" anchor="t"/>
          <a:lstStyle/>
          <a:p>
            <a:pPr algn="l">
              <a:spcBef>
                <a:spcPts val="0"/>
              </a:spcBef>
              <a:spcAft>
                <a:spcPts val="0"/>
              </a:spcAft>
            </a:pPr>
            <a:r>
              <a:rPr sz="1600" b="1">
                <a:solidFill>
                  <a:srgbClr val="EDECE4"/>
                </a:solidFill>
                <a:latin typeface="Calibri"/>
              </a:rPr>
              <a:t>Tyler Brasseaux  ·  Founder &amp; systems architect</a:t>
            </a:r>
          </a:p>
        </p:txBody>
      </p:sp>
      <p:sp>
        <p:nvSpPr>
          <p:cNvPr id="21" name="TextBox 20"/>
          <p:cNvSpPr txBox="1"/>
          <p:nvPr/>
        </p:nvSpPr>
        <p:spPr>
          <a:xfrm>
            <a:off x="502920" y="3703320"/>
            <a:ext cx="6766560" cy="219456"/>
          </a:xfrm>
          <a:prstGeom prst="rect">
            <a:avLst/>
          </a:prstGeom>
          <a:noFill/>
        </p:spPr>
        <p:txBody>
          <a:bodyPr wrap="square" anchor="t"/>
          <a:lstStyle/>
          <a:p>
            <a:pPr algn="l">
              <a:spcBef>
                <a:spcPts val="0"/>
              </a:spcBef>
              <a:spcAft>
                <a:spcPts val="0"/>
              </a:spcAft>
            </a:pPr>
            <a:r>
              <a:rPr sz="900" b="1">
                <a:solidFill>
                  <a:srgbClr val="787C88"/>
                </a:solidFill>
                <a:latin typeface="Calibri"/>
              </a:rPr>
              <a:t>STATUS</a:t>
            </a:r>
          </a:p>
        </p:txBody>
      </p:sp>
      <p:sp>
        <p:nvSpPr>
          <p:cNvPr id="22" name="TextBox 21"/>
          <p:cNvSpPr txBox="1"/>
          <p:nvPr/>
        </p:nvSpPr>
        <p:spPr>
          <a:xfrm>
            <a:off x="502920" y="3913632"/>
            <a:ext cx="6766560" cy="640080"/>
          </a:xfrm>
          <a:prstGeom prst="rect">
            <a:avLst/>
          </a:prstGeom>
          <a:noFill/>
        </p:spPr>
        <p:txBody>
          <a:bodyPr wrap="square" anchor="t"/>
          <a:lstStyle/>
          <a:p>
            <a:pPr algn="l">
              <a:spcBef>
                <a:spcPts val="0"/>
              </a:spcBef>
              <a:spcAft>
                <a:spcPts val="0"/>
              </a:spcAft>
            </a:pPr>
            <a:r>
              <a:rPr sz="1400" b="0">
                <a:solidFill>
                  <a:srgbClr val="A8ACB8"/>
                </a:solidFill>
                <a:latin typeface="Calibri"/>
              </a:rPr>
              <a:t>Post-MVP  ·  RAM caucus  ·  process clock  ·  mesh voice  ·  Groq agent  ·  destruction receipt</a:t>
            </a:r>
          </a:p>
        </p:txBody>
      </p:sp>
      <p:sp>
        <p:nvSpPr>
          <p:cNvPr id="23" name="TextBox 22"/>
          <p:cNvSpPr txBox="1"/>
          <p:nvPr/>
        </p:nvSpPr>
        <p:spPr>
          <a:xfrm>
            <a:off x="502920" y="4617720"/>
            <a:ext cx="6766560" cy="219456"/>
          </a:xfrm>
          <a:prstGeom prst="rect">
            <a:avLst/>
          </a:prstGeom>
          <a:noFill/>
        </p:spPr>
        <p:txBody>
          <a:bodyPr wrap="square" anchor="t"/>
          <a:lstStyle/>
          <a:p>
            <a:pPr algn="l">
              <a:spcBef>
                <a:spcPts val="0"/>
              </a:spcBef>
              <a:spcAft>
                <a:spcPts val="0"/>
              </a:spcAft>
            </a:pPr>
            <a:r>
              <a:rPr sz="900" b="1">
                <a:solidFill>
                  <a:srgbClr val="787C88"/>
                </a:solidFill>
                <a:latin typeface="Calibri"/>
              </a:rPr>
              <a:t>MOTION</a:t>
            </a:r>
          </a:p>
        </p:txBody>
      </p:sp>
      <p:sp>
        <p:nvSpPr>
          <p:cNvPr id="24" name="TextBox 23"/>
          <p:cNvSpPr txBox="1"/>
          <p:nvPr/>
        </p:nvSpPr>
        <p:spPr>
          <a:xfrm>
            <a:off x="502920" y="4828032"/>
            <a:ext cx="6766560" cy="457200"/>
          </a:xfrm>
          <a:prstGeom prst="rect">
            <a:avLst/>
          </a:prstGeom>
          <a:noFill/>
        </p:spPr>
        <p:txBody>
          <a:bodyPr wrap="square" anchor="t"/>
          <a:lstStyle/>
          <a:p>
            <a:pPr algn="l">
              <a:spcBef>
                <a:spcPts val="0"/>
              </a:spcBef>
              <a:spcAft>
                <a:spcPts val="0"/>
              </a:spcAft>
            </a:pPr>
            <a:r>
              <a:rPr sz="1400" b="0">
                <a:solidFill>
                  <a:srgbClr val="A8ACB8"/>
                </a:solidFill>
                <a:latin typeface="Calibri"/>
              </a:rPr>
              <a:t>Institutional evaluation  ·  organization seats  ·  not consumer SaaS</a:t>
            </a:r>
          </a:p>
        </p:txBody>
      </p:sp>
      <p:sp>
        <p:nvSpPr>
          <p:cNvPr id="25" name="Rounded Rectangle 24"/>
          <p:cNvSpPr/>
          <p:nvPr/>
        </p:nvSpPr>
        <p:spPr>
          <a:xfrm>
            <a:off x="7635240" y="2011680"/>
            <a:ext cx="4069080" cy="41605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35240" y="2011680"/>
            <a:ext cx="19050" cy="416052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2240280"/>
            <a:ext cx="3474720" cy="256032"/>
          </a:xfrm>
          <a:prstGeom prst="rect">
            <a:avLst/>
          </a:prstGeom>
          <a:noFill/>
        </p:spPr>
        <p:txBody>
          <a:bodyPr wrap="square" anchor="t"/>
          <a:lstStyle/>
          <a:p>
            <a:pPr algn="l">
              <a:spcBef>
                <a:spcPts val="0"/>
              </a:spcBef>
              <a:spcAft>
                <a:spcPts val="0"/>
              </a:spcAft>
            </a:pPr>
            <a:r>
              <a:rPr sz="1100" b="1">
                <a:solidFill>
                  <a:srgbClr val="5AAAB0"/>
                </a:solidFill>
                <a:latin typeface="Calibri"/>
              </a:rPr>
              <a:t>GOVERNING PROMISE</a:t>
            </a:r>
          </a:p>
        </p:txBody>
      </p:sp>
      <p:sp>
        <p:nvSpPr>
          <p:cNvPr id="28" name="TextBox 27"/>
          <p:cNvSpPr txBox="1"/>
          <p:nvPr/>
        </p:nvSpPr>
        <p:spPr>
          <a:xfrm>
            <a:off x="8001000" y="2651760"/>
            <a:ext cx="3474720" cy="3200400"/>
          </a:xfrm>
          <a:prstGeom prst="rect">
            <a:avLst/>
          </a:prstGeom>
          <a:noFill/>
        </p:spPr>
        <p:txBody>
          <a:bodyPr wrap="square">
            <a:spAutoFit/>
          </a:bodyPr>
          <a:lstStyle/>
          <a:p>
            <a:pPr>
              <a:spcAft>
                <a:spcPts val="1000"/>
              </a:spcAft>
            </a:pPr>
            <a:r>
              <a:rPr sz="1500" b="0">
                <a:solidFill>
                  <a:srgbClr val="A8ACB8"/>
                </a:solidFill>
                <a:latin typeface="Calibri"/>
              </a:rPr>
              <a:t>Avelis is visible in the room.</a:t>
            </a:r>
          </a:p>
          <a:p>
            <a:pPr>
              <a:spcAft>
                <a:spcPts val="1000"/>
              </a:spcAft>
            </a:pPr>
            <a:r>
              <a:rPr sz="1500" b="0">
                <a:solidFill>
                  <a:srgbClr val="A8ACB8"/>
                </a:solidFill>
                <a:latin typeface="Calibri"/>
              </a:rPr>
              <a:t>No stored transcript.</a:t>
            </a:r>
          </a:p>
          <a:p>
            <a:pPr>
              <a:spcAft>
                <a:spcPts val="1000"/>
              </a:spcAft>
            </a:pPr>
            <a:r>
              <a:rPr sz="1500" b="0">
                <a:solidFill>
                  <a:srgbClr val="A8ACB8"/>
                </a:solidFill>
                <a:latin typeface="Calibri"/>
              </a:rPr>
              <a:t>Named moves, not sentiment scores.</a:t>
            </a:r>
          </a:p>
          <a:p>
            <a:pPr>
              <a:spcAft>
                <a:spcPts val="1000"/>
              </a:spcAft>
            </a:pPr>
            <a:r>
              <a:rPr sz="1500" b="0">
                <a:solidFill>
                  <a:srgbClr val="A8ACB8"/>
                </a:solidFill>
                <a:latin typeface="Calibri"/>
              </a:rPr>
              <a:t>No model writes the ledger.</a:t>
            </a:r>
          </a:p>
          <a:p>
            <a:pPr>
              <a:spcAft>
                <a:spcPts val="1000"/>
              </a:spcAft>
            </a:pPr>
            <a:r>
              <a:rPr sz="1500" b="0">
                <a:solidFill>
                  <a:srgbClr val="A8ACB8"/>
                </a:solidFill>
                <a:latin typeface="Calibri"/>
              </a:rPr>
              <a:t>A destruction receipt remains.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PROBLEM</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02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The default stack turns a facilitation into a file.</a:t>
            </a:r>
          </a:p>
        </p:txBody>
      </p:sp>
      <p:sp>
        <p:nvSpPr>
          <p:cNvPr id="17" name="Rounded Rectangle 16"/>
          <p:cNvSpPr/>
          <p:nvPr/>
        </p:nvSpPr>
        <p:spPr>
          <a:xfrm>
            <a:off x="502920" y="2057400"/>
            <a:ext cx="3566160" cy="3108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25856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Collaboration tools persist</a:t>
            </a:r>
          </a:p>
        </p:txBody>
      </p:sp>
      <p:sp>
        <p:nvSpPr>
          <p:cNvPr id="19" name="TextBox 18"/>
          <p:cNvSpPr txBox="1"/>
          <p:nvPr/>
        </p:nvSpPr>
        <p:spPr>
          <a:xfrm>
            <a:off x="758952" y="2624328"/>
            <a:ext cx="3054096" cy="2377440"/>
          </a:xfrm>
          <a:prstGeom prst="rect">
            <a:avLst/>
          </a:prstGeom>
          <a:noFill/>
        </p:spPr>
        <p:txBody>
          <a:bodyPr wrap="square" anchor="t"/>
          <a:lstStyle/>
          <a:p>
            <a:pPr algn="l">
              <a:spcBef>
                <a:spcPts val="0"/>
              </a:spcBef>
              <a:spcAft>
                <a:spcPts val="0"/>
              </a:spcAft>
            </a:pPr>
            <a:r>
              <a:rPr sz="1300" b="0">
                <a:solidFill>
                  <a:srgbClr val="A8ACB8"/>
                </a:solidFill>
                <a:latin typeface="Calibri"/>
              </a:rPr>
              <a:t>Video suites ship recording, captions, and model-written summaries by default. The room is a document.</a:t>
            </a:r>
          </a:p>
        </p:txBody>
      </p:sp>
      <p:sp>
        <p:nvSpPr>
          <p:cNvPr id="20" name="Rounded Rectangle 19"/>
          <p:cNvSpPr/>
          <p:nvPr/>
        </p:nvSpPr>
        <p:spPr>
          <a:xfrm>
            <a:off x="4297680" y="2057400"/>
            <a:ext cx="3566160" cy="3108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3712" y="225856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Case systems keep too much</a:t>
            </a:r>
          </a:p>
        </p:txBody>
      </p:sp>
      <p:sp>
        <p:nvSpPr>
          <p:cNvPr id="22" name="TextBox 21"/>
          <p:cNvSpPr txBox="1"/>
          <p:nvPr/>
        </p:nvSpPr>
        <p:spPr>
          <a:xfrm>
            <a:off x="4553712" y="2624328"/>
            <a:ext cx="3054096" cy="2377440"/>
          </a:xfrm>
          <a:prstGeom prst="rect">
            <a:avLst/>
          </a:prstGeom>
          <a:noFill/>
        </p:spPr>
        <p:txBody>
          <a:bodyPr wrap="square" anchor="t"/>
          <a:lstStyle/>
          <a:p>
            <a:pPr algn="l">
              <a:spcBef>
                <a:spcPts val="0"/>
              </a:spcBef>
              <a:spcAft>
                <a:spcPts val="0"/>
              </a:spcAft>
            </a:pPr>
            <a:r>
              <a:rPr sz="1300" b="0">
                <a:solidFill>
                  <a:srgbClr val="A8ACB8"/>
                </a:solidFill>
                <a:latin typeface="Calibri"/>
              </a:rPr>
              <a:t>Employee-relations and investigation software are built to retain. They are the wrong object for a live session.</a:t>
            </a:r>
          </a:p>
        </p:txBody>
      </p:sp>
      <p:sp>
        <p:nvSpPr>
          <p:cNvPr id="23" name="Rounded Rectangle 22"/>
          <p:cNvSpPr/>
          <p:nvPr/>
        </p:nvSpPr>
        <p:spPr>
          <a:xfrm>
            <a:off x="8092440" y="2057400"/>
            <a:ext cx="3566160" cy="3108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8472" y="225856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Chat has no session</a:t>
            </a:r>
          </a:p>
        </p:txBody>
      </p:sp>
      <p:sp>
        <p:nvSpPr>
          <p:cNvPr id="25" name="TextBox 24"/>
          <p:cNvSpPr txBox="1"/>
          <p:nvPr/>
        </p:nvSpPr>
        <p:spPr>
          <a:xfrm>
            <a:off x="8348472" y="2624328"/>
            <a:ext cx="3054096" cy="2377440"/>
          </a:xfrm>
          <a:prstGeom prst="rect">
            <a:avLst/>
          </a:prstGeom>
          <a:noFill/>
        </p:spPr>
        <p:txBody>
          <a:bodyPr wrap="square" anchor="t"/>
          <a:lstStyle/>
          <a:p>
            <a:pPr algn="l">
              <a:spcBef>
                <a:spcPts val="0"/>
              </a:spcBef>
              <a:spcAft>
                <a:spcPts val="0"/>
              </a:spcAft>
            </a:pPr>
            <a:r>
              <a:rPr sz="1300" b="0">
                <a:solidFill>
                  <a:srgbClr val="A8ACB8"/>
                </a:solidFill>
                <a:latin typeface="Calibri"/>
              </a:rPr>
              <a:t>Encrypted messengers have standing identity and no process ledger, no retention clock, no destruction receipt.</a:t>
            </a:r>
          </a:p>
        </p:txBody>
      </p:sp>
      <p:sp>
        <p:nvSpPr>
          <p:cNvPr id="26" name="TextBox 25"/>
          <p:cNvSpPr txBox="1"/>
          <p:nvPr/>
        </p:nvSpPr>
        <p:spPr>
          <a:xfrm>
            <a:off x="502920" y="5486400"/>
            <a:ext cx="11155680" cy="548640"/>
          </a:xfrm>
          <a:prstGeom prst="rect">
            <a:avLst/>
          </a:prstGeom>
          <a:noFill/>
        </p:spPr>
        <p:txBody>
          <a:bodyPr wrap="square" anchor="t"/>
          <a:lstStyle/>
          <a:p>
            <a:pPr algn="l">
              <a:spcBef>
                <a:spcPts val="0"/>
              </a:spcBef>
              <a:spcAft>
                <a:spcPts val="0"/>
              </a:spcAft>
            </a:pPr>
            <a:r>
              <a:rPr sz="1600" b="0">
                <a:solidFill>
                  <a:srgbClr val="A8ACB8"/>
                </a:solidFill>
                <a:latin typeface="Calibri"/>
              </a:rPr>
              <a:t>Facilitators still run the work. They just do it on tools designed to remember.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DEMAND</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03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The work is already large. The software is either a file, or an AI judge.</a:t>
            </a:r>
          </a:p>
        </p:txBody>
      </p:sp>
      <p:sp>
        <p:nvSpPr>
          <p:cNvPr id="17" name="Rounded Rectangle 16"/>
          <p:cNvSpPr/>
          <p:nvPr/>
        </p:nvSpPr>
        <p:spPr>
          <a:xfrm>
            <a:off x="502920" y="2011680"/>
            <a:ext cx="6492240" cy="40233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48840"/>
            <a:ext cx="6035040" cy="274320"/>
          </a:xfrm>
          <a:prstGeom prst="rect">
            <a:avLst/>
          </a:prstGeom>
          <a:noFill/>
        </p:spPr>
        <p:txBody>
          <a:bodyPr wrap="square" anchor="t"/>
          <a:lstStyle/>
          <a:p>
            <a:pPr algn="l">
              <a:spcBef>
                <a:spcPts val="0"/>
              </a:spcBef>
              <a:spcAft>
                <a:spcPts val="0"/>
              </a:spcAft>
            </a:pPr>
            <a:r>
              <a:rPr sz="1100" b="1">
                <a:solidFill>
                  <a:srgbClr val="5AAAB0"/>
                </a:solidFill>
                <a:latin typeface="Calibri"/>
              </a:rPr>
              <a:t>ADJACENT MARKETS (USD BILLIONS) — NOT AVELIS REVENUE</a:t>
            </a:r>
          </a:p>
        </p:txBody>
      </p:sp>
      <p:graphicFrame>
        <p:nvGraphicFramePr>
          <p:cNvPr id="19" name="Chart 18"/>
          <p:cNvGraphicFramePr>
            <a:graphicFrameLocks noGrp="1"/>
          </p:cNvGraphicFramePr>
          <p:nvPr/>
        </p:nvGraphicFramePr>
        <p:xfrm>
          <a:off x="822960" y="2560320"/>
          <a:ext cx="5852160" cy="3108960"/>
        </p:xfrm>
        <a:graphic>
          <a:graphicData uri="http://schemas.openxmlformats.org/drawingml/2006/chart">
            <c:chart xmlns:c="http://schemas.openxmlformats.org/drawingml/2006/chart" r:id="rId2"/>
          </a:graphicData>
        </a:graphic>
      </p:graphicFrame>
      <p:sp>
        <p:nvSpPr>
          <p:cNvPr id="20" name="TextBox 19"/>
          <p:cNvSpPr txBox="1"/>
          <p:nvPr/>
        </p:nvSpPr>
        <p:spPr>
          <a:xfrm>
            <a:off x="7315200" y="2011680"/>
            <a:ext cx="4389120" cy="4114800"/>
          </a:xfrm>
          <a:prstGeom prst="rect">
            <a:avLst/>
          </a:prstGeom>
          <a:noFill/>
        </p:spPr>
        <p:txBody>
          <a:bodyPr wrap="square">
            <a:spAutoFit/>
          </a:bodyPr>
          <a:lstStyle/>
          <a:p>
            <a:pPr>
              <a:spcAft>
                <a:spcPts val="1000"/>
              </a:spcAft>
            </a:pPr>
            <a:r>
              <a:rPr sz="1300" b="0">
                <a:solidFill>
                  <a:srgbClr val="A8ACB8"/>
                </a:solidFill>
                <a:latin typeface="Calibri"/>
              </a:rPr>
              <a:t>ODR software: $2.45B in 2026 → $6.84B in 2032, 18.2% CAGR (360iResearch).</a:t>
            </a:r>
          </a:p>
          <a:p>
            <a:pPr>
              <a:spcAft>
                <a:spcPts val="1000"/>
              </a:spcAft>
            </a:pPr>
            <a:r>
              <a:rPr sz="1300" b="0">
                <a:solidFill>
                  <a:srgbClr val="A8ACB8"/>
                </a:solidFill>
                <a:latin typeface="Calibri"/>
              </a:rPr>
              <a:t>AI-powered mediation platforms: $1.8B in 2025 → $9.4B in 2034, 20.2% CAGR (Dataintelo).</a:t>
            </a:r>
          </a:p>
          <a:p>
            <a:pPr>
              <a:spcAft>
                <a:spcPts val="1000"/>
              </a:spcAft>
            </a:pPr>
            <a:r>
              <a:rPr sz="1300" b="0">
                <a:solidFill>
                  <a:srgbClr val="A8ACB8"/>
                </a:solidFill>
                <a:latin typeface="Calibri"/>
              </a:rPr>
              <a:t>NA workplace conflict management: $3.96B in 2026 → $8.32B in 2033, 11.2% CAGR (Coherent).</a:t>
            </a:r>
          </a:p>
          <a:p>
            <a:pPr>
              <a:spcAft>
                <a:spcPts val="1000"/>
              </a:spcAft>
            </a:pPr>
            <a:r>
              <a:rPr sz="1300" b="0">
                <a:solidFill>
                  <a:srgbClr val="A8ACB8"/>
                </a:solidFill>
                <a:latin typeface="Calibri"/>
              </a:rPr>
              <a:t>AAA: ~500k cases/year. Their AI Arbitrator is document-only construction — not live rooms.</a:t>
            </a:r>
          </a:p>
          <a:p>
            <a:pPr>
              <a:spcAft>
                <a:spcPts val="1000"/>
              </a:spcAft>
            </a:pPr>
            <a:r>
              <a:rPr sz="1300" b="0">
                <a:solidFill>
                  <a:srgbClr val="A8ACB8"/>
                </a:solidFill>
                <a:latin typeface="Calibri"/>
              </a:rPr>
              <a:t>ALM/JAMS: nearly 90% of surveyed US lawyers used mediation in the past 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PRODUCT</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04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The product object is a session. Not a community, not a case file.</a:t>
            </a:r>
          </a:p>
        </p:txBody>
      </p:sp>
      <p:sp>
        <p:nvSpPr>
          <p:cNvPr id="17" name="Rounded Rectangle 16"/>
          <p:cNvSpPr/>
          <p:nvPr/>
        </p:nvSpPr>
        <p:spPr>
          <a:xfrm>
            <a:off x="502920" y="2103120"/>
            <a:ext cx="214884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304288"/>
            <a:ext cx="16367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01</a:t>
            </a:r>
          </a:p>
        </p:txBody>
      </p:sp>
      <p:sp>
        <p:nvSpPr>
          <p:cNvPr id="19" name="TextBox 18"/>
          <p:cNvSpPr txBox="1"/>
          <p:nvPr/>
        </p:nvSpPr>
        <p:spPr>
          <a:xfrm>
            <a:off x="758952" y="2542032"/>
            <a:ext cx="1636776" cy="347472"/>
          </a:xfrm>
          <a:prstGeom prst="rect">
            <a:avLst/>
          </a:prstGeom>
          <a:noFill/>
        </p:spPr>
        <p:txBody>
          <a:bodyPr wrap="square" anchor="t"/>
          <a:lstStyle/>
          <a:p>
            <a:pPr algn="l">
              <a:spcBef>
                <a:spcPts val="0"/>
              </a:spcBef>
              <a:spcAft>
                <a:spcPts val="0"/>
              </a:spcAft>
            </a:pPr>
            <a:r>
              <a:rPr sz="1600" b="1">
                <a:solidFill>
                  <a:srgbClr val="EDECE4"/>
                </a:solidFill>
                <a:latin typeface="Calibri"/>
              </a:rPr>
              <a:t>Draft</a:t>
            </a:r>
          </a:p>
        </p:txBody>
      </p:sp>
      <p:sp>
        <p:nvSpPr>
          <p:cNvPr id="20" name="TextBox 19"/>
          <p:cNvSpPr txBox="1"/>
          <p:nvPr/>
        </p:nvSpPr>
        <p:spPr>
          <a:xfrm>
            <a:off x="758952" y="2907792"/>
            <a:ext cx="1636776" cy="2871216"/>
          </a:xfrm>
          <a:prstGeom prst="rect">
            <a:avLst/>
          </a:prstGeom>
          <a:noFill/>
        </p:spPr>
        <p:txBody>
          <a:bodyPr wrap="square" anchor="t"/>
          <a:lstStyle/>
          <a:p>
            <a:pPr algn="l">
              <a:spcBef>
                <a:spcPts val="0"/>
              </a:spcBef>
              <a:spcAft>
                <a:spcPts val="0"/>
              </a:spcAft>
            </a:pPr>
            <a:r>
              <a:rPr sz="1300" b="0">
                <a:solidFill>
                  <a:srgbClr val="A8ACB8"/>
                </a:solidFill>
                <a:latin typeface="Calibri"/>
              </a:rPr>
              <a:t>Facilitator sets retention. Invites are one-time codes.</a:t>
            </a:r>
          </a:p>
        </p:txBody>
      </p:sp>
      <p:sp>
        <p:nvSpPr>
          <p:cNvPr id="21" name="Rounded Rectangle 20"/>
          <p:cNvSpPr/>
          <p:nvPr/>
        </p:nvSpPr>
        <p:spPr>
          <a:xfrm>
            <a:off x="2788920" y="2103120"/>
            <a:ext cx="214884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44952" y="2304288"/>
            <a:ext cx="16367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02</a:t>
            </a:r>
          </a:p>
        </p:txBody>
      </p:sp>
      <p:sp>
        <p:nvSpPr>
          <p:cNvPr id="23" name="TextBox 22"/>
          <p:cNvSpPr txBox="1"/>
          <p:nvPr/>
        </p:nvSpPr>
        <p:spPr>
          <a:xfrm>
            <a:off x="3044952" y="2542032"/>
            <a:ext cx="1636776" cy="347472"/>
          </a:xfrm>
          <a:prstGeom prst="rect">
            <a:avLst/>
          </a:prstGeom>
          <a:noFill/>
        </p:spPr>
        <p:txBody>
          <a:bodyPr wrap="square" anchor="t"/>
          <a:lstStyle/>
          <a:p>
            <a:pPr algn="l">
              <a:spcBef>
                <a:spcPts val="0"/>
              </a:spcBef>
              <a:spcAft>
                <a:spcPts val="0"/>
              </a:spcAft>
            </a:pPr>
            <a:r>
              <a:rPr sz="1600" b="1">
                <a:solidFill>
                  <a:srgbClr val="EDECE4"/>
                </a:solidFill>
                <a:latin typeface="Calibri"/>
              </a:rPr>
              <a:t>Open</a:t>
            </a:r>
          </a:p>
        </p:txBody>
      </p:sp>
      <p:sp>
        <p:nvSpPr>
          <p:cNvPr id="24" name="TextBox 23"/>
          <p:cNvSpPr txBox="1"/>
          <p:nvPr/>
        </p:nvSpPr>
        <p:spPr>
          <a:xfrm>
            <a:off x="3044952" y="2907792"/>
            <a:ext cx="1636776" cy="2871216"/>
          </a:xfrm>
          <a:prstGeom prst="rect">
            <a:avLst/>
          </a:prstGeom>
          <a:noFill/>
        </p:spPr>
        <p:txBody>
          <a:bodyPr wrap="square" anchor="t"/>
          <a:lstStyle/>
          <a:p>
            <a:pPr algn="l">
              <a:spcBef>
                <a:spcPts val="0"/>
              </a:spcBef>
              <a:spcAft>
                <a:spcPts val="0"/>
              </a:spcAft>
            </a:pPr>
            <a:r>
              <a:rPr sz="1300" b="0">
                <a:solidFill>
                  <a:srgbClr val="A8ACB8"/>
                </a:solidFill>
                <a:latin typeface="Calibri"/>
              </a:rPr>
              <a:t>Room exists only while the session is open.</a:t>
            </a:r>
          </a:p>
        </p:txBody>
      </p:sp>
      <p:sp>
        <p:nvSpPr>
          <p:cNvPr id="25" name="Rounded Rectangle 24"/>
          <p:cNvSpPr/>
          <p:nvPr/>
        </p:nvSpPr>
        <p:spPr>
          <a:xfrm>
            <a:off x="5074920" y="2103120"/>
            <a:ext cx="214884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30952" y="2304288"/>
            <a:ext cx="16367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03</a:t>
            </a:r>
          </a:p>
        </p:txBody>
      </p:sp>
      <p:sp>
        <p:nvSpPr>
          <p:cNvPr id="27" name="TextBox 26"/>
          <p:cNvSpPr txBox="1"/>
          <p:nvPr/>
        </p:nvSpPr>
        <p:spPr>
          <a:xfrm>
            <a:off x="5330952" y="2542032"/>
            <a:ext cx="1636776" cy="347472"/>
          </a:xfrm>
          <a:prstGeom prst="rect">
            <a:avLst/>
          </a:prstGeom>
          <a:noFill/>
        </p:spPr>
        <p:txBody>
          <a:bodyPr wrap="square" anchor="t"/>
          <a:lstStyle/>
          <a:p>
            <a:pPr algn="l">
              <a:spcBef>
                <a:spcPts val="0"/>
              </a:spcBef>
              <a:spcAft>
                <a:spcPts val="0"/>
              </a:spcAft>
            </a:pPr>
            <a:r>
              <a:rPr sz="1600" b="1">
                <a:solidFill>
                  <a:srgbClr val="EDECE4"/>
                </a:solidFill>
                <a:latin typeface="Calibri"/>
              </a:rPr>
              <a:t>Live</a:t>
            </a:r>
          </a:p>
        </p:txBody>
      </p:sp>
      <p:sp>
        <p:nvSpPr>
          <p:cNvPr id="28" name="TextBox 27"/>
          <p:cNvSpPr txBox="1"/>
          <p:nvPr/>
        </p:nvSpPr>
        <p:spPr>
          <a:xfrm>
            <a:off x="5330952" y="2907792"/>
            <a:ext cx="1636776" cy="2871216"/>
          </a:xfrm>
          <a:prstGeom prst="rect">
            <a:avLst/>
          </a:prstGeom>
          <a:noFill/>
        </p:spPr>
        <p:txBody>
          <a:bodyPr wrap="square" anchor="t"/>
          <a:lstStyle/>
          <a:p>
            <a:pPr algn="l">
              <a:spcBef>
                <a:spcPts val="0"/>
              </a:spcBef>
              <a:spcAft>
                <a:spcPts val="0"/>
              </a:spcAft>
            </a:pPr>
            <a:r>
              <a:rPr sz="1300" b="0">
                <a:solidFill>
                  <a:srgbClr val="A8ACB8"/>
                </a:solidFill>
                <a:latin typeface="Calibri"/>
              </a:rPr>
              <a:t>Visible agent. RAM caucus. Shared clock. Mesh voice Avelis does not hear.</a:t>
            </a:r>
          </a:p>
        </p:txBody>
      </p:sp>
      <p:sp>
        <p:nvSpPr>
          <p:cNvPr id="29" name="Rounded Rectangle 28"/>
          <p:cNvSpPr/>
          <p:nvPr/>
        </p:nvSpPr>
        <p:spPr>
          <a:xfrm>
            <a:off x="7360920" y="2103120"/>
            <a:ext cx="214884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16952" y="2304288"/>
            <a:ext cx="16367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04</a:t>
            </a:r>
          </a:p>
        </p:txBody>
      </p:sp>
      <p:sp>
        <p:nvSpPr>
          <p:cNvPr id="31" name="TextBox 30"/>
          <p:cNvSpPr txBox="1"/>
          <p:nvPr/>
        </p:nvSpPr>
        <p:spPr>
          <a:xfrm>
            <a:off x="7616952" y="2542032"/>
            <a:ext cx="1636776" cy="347472"/>
          </a:xfrm>
          <a:prstGeom prst="rect">
            <a:avLst/>
          </a:prstGeom>
          <a:noFill/>
        </p:spPr>
        <p:txBody>
          <a:bodyPr wrap="square" anchor="t"/>
          <a:lstStyle/>
          <a:p>
            <a:pPr algn="l">
              <a:spcBef>
                <a:spcPts val="0"/>
              </a:spcBef>
              <a:spcAft>
                <a:spcPts val="0"/>
              </a:spcAft>
            </a:pPr>
            <a:r>
              <a:rPr sz="1600" b="1">
                <a:solidFill>
                  <a:srgbClr val="EDECE4"/>
                </a:solidFill>
                <a:latin typeface="Calibri"/>
              </a:rPr>
              <a:t>Close</a:t>
            </a:r>
          </a:p>
        </p:txBody>
      </p:sp>
      <p:sp>
        <p:nvSpPr>
          <p:cNvPr id="32" name="TextBox 31"/>
          <p:cNvSpPr txBox="1"/>
          <p:nvPr/>
        </p:nvSpPr>
        <p:spPr>
          <a:xfrm>
            <a:off x="7616952" y="2907792"/>
            <a:ext cx="1636776" cy="2871216"/>
          </a:xfrm>
          <a:prstGeom prst="rect">
            <a:avLst/>
          </a:prstGeom>
          <a:noFill/>
        </p:spPr>
        <p:txBody>
          <a:bodyPr wrap="square" anchor="t"/>
          <a:lstStyle/>
          <a:p>
            <a:pPr algn="l">
              <a:spcBef>
                <a:spcPts val="0"/>
              </a:spcBef>
              <a:spcAft>
                <a:spcPts val="0"/>
              </a:spcAft>
            </a:pPr>
            <a:r>
              <a:rPr sz="1300" b="0">
                <a:solidFill>
                  <a:srgbClr val="A8ACB8"/>
                </a:solidFill>
                <a:latin typeface="Calibri"/>
              </a:rPr>
              <a:t>Access ends. The live room is destroyed. Messages cannot be recovered.</a:t>
            </a:r>
          </a:p>
        </p:txBody>
      </p:sp>
      <p:sp>
        <p:nvSpPr>
          <p:cNvPr id="33" name="Rounded Rectangle 32"/>
          <p:cNvSpPr/>
          <p:nvPr/>
        </p:nvSpPr>
        <p:spPr>
          <a:xfrm>
            <a:off x="9646920" y="2103120"/>
            <a:ext cx="214884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02952" y="2304288"/>
            <a:ext cx="16367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05</a:t>
            </a:r>
          </a:p>
        </p:txBody>
      </p:sp>
      <p:sp>
        <p:nvSpPr>
          <p:cNvPr id="35" name="TextBox 34"/>
          <p:cNvSpPr txBox="1"/>
          <p:nvPr/>
        </p:nvSpPr>
        <p:spPr>
          <a:xfrm>
            <a:off x="9902952" y="2542032"/>
            <a:ext cx="1636776" cy="347472"/>
          </a:xfrm>
          <a:prstGeom prst="rect">
            <a:avLst/>
          </a:prstGeom>
          <a:noFill/>
        </p:spPr>
        <p:txBody>
          <a:bodyPr wrap="square" anchor="t"/>
          <a:lstStyle/>
          <a:p>
            <a:pPr algn="l">
              <a:spcBef>
                <a:spcPts val="0"/>
              </a:spcBef>
              <a:spcAft>
                <a:spcPts val="0"/>
              </a:spcAft>
            </a:pPr>
            <a:r>
              <a:rPr sz="1600" b="1">
                <a:solidFill>
                  <a:srgbClr val="EDECE4"/>
                </a:solidFill>
                <a:latin typeface="Calibri"/>
              </a:rPr>
              <a:t>Destroy</a:t>
            </a:r>
          </a:p>
        </p:txBody>
      </p:sp>
      <p:sp>
        <p:nvSpPr>
          <p:cNvPr id="36" name="TextBox 35"/>
          <p:cNvSpPr txBox="1"/>
          <p:nvPr/>
        </p:nvSpPr>
        <p:spPr>
          <a:xfrm>
            <a:off x="9902952" y="2907792"/>
            <a:ext cx="1636776" cy="2871216"/>
          </a:xfrm>
          <a:prstGeom prst="rect">
            <a:avLst/>
          </a:prstGeom>
          <a:noFill/>
        </p:spPr>
        <p:txBody>
          <a:bodyPr wrap="square" anchor="t"/>
          <a:lstStyle/>
          <a:p>
            <a:pPr algn="l">
              <a:spcBef>
                <a:spcPts val="0"/>
              </a:spcBef>
              <a:spcAft>
                <a:spcPts val="0"/>
              </a:spcAft>
            </a:pPr>
            <a:r>
              <a:rPr sz="1300" b="0">
                <a:solidFill>
                  <a:srgbClr val="A8ACB8"/>
                </a:solidFill>
                <a:latin typeface="Calibri"/>
              </a:rPr>
              <a:t>Process records die at the deadline. A receipt remains.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BOUNDARY</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05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What is kept, and for how long.</a:t>
            </a:r>
          </a:p>
        </p:txBody>
      </p:sp>
      <p:graphicFrame>
        <p:nvGraphicFramePr>
          <p:cNvPr id="17" name="Table 16"/>
          <p:cNvGraphicFramePr>
            <a:graphicFrameLocks noGrp="1"/>
          </p:cNvGraphicFramePr>
          <p:nvPr/>
        </p:nvGraphicFramePr>
        <p:xfrm>
          <a:off x="502920" y="2011680"/>
          <a:ext cx="11155680" cy="3291840"/>
        </p:xfrm>
        <a:graphic>
          <a:graphicData uri="http://schemas.openxmlformats.org/drawingml/2006/table">
            <a:tbl>
              <a:tblPr firstRow="1" bandRow="1">
                <a:tableStyleId>{5C22544A-7EE6-4342-B048-85BDC9FD1C3A}</a:tableStyleId>
              </a:tblPr>
              <a:tblGrid>
                <a:gridCol w="3718560"/>
                <a:gridCol w="3718560"/>
                <a:gridCol w="3718560"/>
              </a:tblGrid>
              <a:tr h="411480">
                <a:tc>
                  <a:txBody>
                    <a:bodyPr/>
                    <a:lstStyle/>
                    <a:p>
                      <a:pPr algn="l"/>
                      <a:r>
                        <a:rPr sz="1100" b="1">
                          <a:solidFill>
                            <a:srgbClr val="787C88"/>
                          </a:solidFill>
                          <a:latin typeface="Calibri"/>
                        </a:rPr>
                        <a:t>Object</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100" b="1">
                          <a:solidFill>
                            <a:srgbClr val="787C88"/>
                          </a:solidFill>
                          <a:latin typeface="Calibri"/>
                        </a:rPr>
                        <a:t>Stored?</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100" b="1">
                          <a:solidFill>
                            <a:srgbClr val="787C88"/>
                          </a:solidFill>
                          <a:latin typeface="Calibri"/>
                        </a:rPr>
                        <a:t>Retention</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Live room messages</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No</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Volatile memory only</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Mesh voice</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No — never at Avelis</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Browser-to-browser; no SFU</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Transcript / AI summary</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Never created</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Process ledger</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Yes</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Until destruction deadline (0–30 days)</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Joint minute (optional)</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If written</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Same deadline, or wiped earlier</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Party invite / delivery address</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Minimal</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Address wiped on join or revoke</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11480">
                <a:tc>
                  <a:txBody>
                    <a:bodyPr/>
                    <a:lstStyle/>
                    <a:p>
                      <a:pPr algn="l"/>
                      <a:r>
                        <a:rPr sz="1200" b="1">
                          <a:solidFill>
                            <a:srgbClr val="EDECE4"/>
                          </a:solidFill>
                          <a:latin typeface="Calibri"/>
                        </a:rPr>
                        <a:t>Destruction receipt</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Yes</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Remains after purge</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bl>
          </a:graphicData>
        </a:graphic>
      </p:graphicFrame>
      <p:sp>
        <p:nvSpPr>
          <p:cNvPr id="18" name="TextBox 17"/>
          <p:cNvSpPr txBox="1"/>
          <p:nvPr/>
        </p:nvSpPr>
        <p:spPr>
          <a:xfrm>
            <a:off x="502920" y="5577840"/>
            <a:ext cx="11155680" cy="640080"/>
          </a:xfrm>
          <a:prstGeom prst="rect">
            <a:avLst/>
          </a:prstGeom>
          <a:noFill/>
        </p:spPr>
        <p:txBody>
          <a:bodyPr wrap="square" anchor="t"/>
          <a:lstStyle/>
          <a:p>
            <a:pPr algn="l">
              <a:spcBef>
                <a:spcPts val="0"/>
              </a:spcBef>
              <a:spcAft>
                <a:spcPts val="0"/>
              </a:spcAft>
            </a:pPr>
            <a:r>
              <a:rPr sz="1400" b="0">
                <a:solidFill>
                  <a:srgbClr val="A8ACB8"/>
                </a:solidFill>
                <a:latin typeface="Calibri"/>
              </a:rPr>
              <a:t>Room messages are delivered live and are not stored by Avelis. Avelis does not claim legal privilege or subpoena immunity.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POSITION</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06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Positioning is a boundary, not a feature list.</a:t>
            </a:r>
          </a:p>
        </p:txBody>
      </p:sp>
      <p:sp>
        <p:nvSpPr>
          <p:cNvPr id="17" name="Rounded Rectangle 16"/>
          <p:cNvSpPr/>
          <p:nvPr/>
        </p:nvSpPr>
        <p:spPr>
          <a:xfrm>
            <a:off x="502920" y="201168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94560"/>
            <a:ext cx="4892040" cy="256032"/>
          </a:xfrm>
          <a:prstGeom prst="rect">
            <a:avLst/>
          </a:prstGeom>
          <a:noFill/>
        </p:spPr>
        <p:txBody>
          <a:bodyPr wrap="square" anchor="t"/>
          <a:lstStyle/>
          <a:p>
            <a:pPr algn="l">
              <a:spcBef>
                <a:spcPts val="0"/>
              </a:spcBef>
              <a:spcAft>
                <a:spcPts val="0"/>
              </a:spcAft>
            </a:pPr>
            <a:r>
              <a:rPr sz="1100" b="1">
                <a:solidFill>
                  <a:srgbClr val="5AAAB0"/>
                </a:solidFill>
                <a:latin typeface="Calibri"/>
              </a:rPr>
              <a:t>THE ADJACENT TRAP</a:t>
            </a:r>
          </a:p>
        </p:txBody>
      </p:sp>
      <p:sp>
        <p:nvSpPr>
          <p:cNvPr id="19" name="TextBox 18"/>
          <p:cNvSpPr txBox="1"/>
          <p:nvPr/>
        </p:nvSpPr>
        <p:spPr>
          <a:xfrm>
            <a:off x="731520" y="2514600"/>
            <a:ext cx="4892040" cy="365760"/>
          </a:xfrm>
          <a:prstGeom prst="rect">
            <a:avLst/>
          </a:prstGeom>
          <a:noFill/>
        </p:spPr>
        <p:txBody>
          <a:bodyPr wrap="square" anchor="t"/>
          <a:lstStyle/>
          <a:p>
            <a:pPr algn="l">
              <a:spcBef>
                <a:spcPts val="0"/>
              </a:spcBef>
              <a:spcAft>
                <a:spcPts val="0"/>
              </a:spcAft>
            </a:pPr>
            <a:r>
              <a:rPr sz="1600" b="1">
                <a:solidFill>
                  <a:srgbClr val="EDECE4"/>
                </a:solidFill>
                <a:latin typeface="Calibri"/>
              </a:rPr>
              <a:t>Process record, speech stored</a:t>
            </a:r>
          </a:p>
        </p:txBody>
      </p:sp>
      <p:sp>
        <p:nvSpPr>
          <p:cNvPr id="20" name="TextBox 19"/>
          <p:cNvSpPr txBox="1"/>
          <p:nvPr/>
        </p:nvSpPr>
        <p:spPr>
          <a:xfrm>
            <a:off x="731520" y="2971800"/>
            <a:ext cx="4892040" cy="640080"/>
          </a:xfrm>
          <a:prstGeom prst="rect">
            <a:avLst/>
          </a:prstGeom>
          <a:noFill/>
        </p:spPr>
        <p:txBody>
          <a:bodyPr wrap="square" anchor="t"/>
          <a:lstStyle/>
          <a:p>
            <a:pPr algn="l">
              <a:spcBef>
                <a:spcPts val="0"/>
              </a:spcBef>
              <a:spcAft>
                <a:spcPts val="0"/>
              </a:spcAft>
            </a:pPr>
            <a:r>
              <a:rPr sz="1400" b="0">
                <a:solidFill>
                  <a:srgbClr val="A8ACB8"/>
                </a:solidFill>
                <a:latin typeface="Calibri"/>
              </a:rPr>
              <a:t>HR case files · eDiscovery · ER suites</a:t>
            </a:r>
          </a:p>
        </p:txBody>
      </p:sp>
      <p:sp>
        <p:nvSpPr>
          <p:cNvPr id="21" name="Rounded Rectangle 20"/>
          <p:cNvSpPr/>
          <p:nvPr/>
        </p:nvSpPr>
        <p:spPr>
          <a:xfrm>
            <a:off x="6355080" y="2011680"/>
            <a:ext cx="5349240" cy="1965960"/>
          </a:xfrm>
          <a:prstGeom prst="roundRect">
            <a:avLst>
              <a:gd name="adj" fmla="val 4000"/>
            </a:avLst>
          </a:prstGeom>
          <a:solidFill>
            <a:srgbClr val="2A2C36"/>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2011680"/>
            <a:ext cx="19050" cy="196596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194560"/>
            <a:ext cx="4892040" cy="256032"/>
          </a:xfrm>
          <a:prstGeom prst="rect">
            <a:avLst/>
          </a:prstGeom>
          <a:noFill/>
        </p:spPr>
        <p:txBody>
          <a:bodyPr wrap="square" anchor="t"/>
          <a:lstStyle/>
          <a:p>
            <a:pPr algn="l">
              <a:spcBef>
                <a:spcPts val="0"/>
              </a:spcBef>
              <a:spcAft>
                <a:spcPts val="0"/>
              </a:spcAft>
            </a:pPr>
            <a:r>
              <a:rPr sz="1100" b="1">
                <a:solidFill>
                  <a:srgbClr val="5AAAB0"/>
                </a:solidFill>
                <a:latin typeface="Calibri"/>
              </a:rPr>
              <a:t>THE PRODUCT</a:t>
            </a:r>
          </a:p>
        </p:txBody>
      </p:sp>
      <p:sp>
        <p:nvSpPr>
          <p:cNvPr id="24" name="TextBox 23"/>
          <p:cNvSpPr txBox="1"/>
          <p:nvPr/>
        </p:nvSpPr>
        <p:spPr>
          <a:xfrm>
            <a:off x="6583680" y="2514600"/>
            <a:ext cx="4892040" cy="365760"/>
          </a:xfrm>
          <a:prstGeom prst="rect">
            <a:avLst/>
          </a:prstGeom>
          <a:noFill/>
        </p:spPr>
        <p:txBody>
          <a:bodyPr wrap="square" anchor="t"/>
          <a:lstStyle/>
          <a:p>
            <a:pPr algn="l">
              <a:spcBef>
                <a:spcPts val="0"/>
              </a:spcBef>
              <a:spcAft>
                <a:spcPts val="0"/>
              </a:spcAft>
            </a:pPr>
            <a:r>
              <a:rPr sz="1600" b="1">
                <a:solidFill>
                  <a:srgbClr val="EDECE4"/>
                </a:solidFill>
                <a:latin typeface="Calibri"/>
              </a:rPr>
              <a:t>Process record, speech not stored</a:t>
            </a:r>
          </a:p>
        </p:txBody>
      </p:sp>
      <p:sp>
        <p:nvSpPr>
          <p:cNvPr id="25" name="TextBox 24"/>
          <p:cNvSpPr txBox="1"/>
          <p:nvPr/>
        </p:nvSpPr>
        <p:spPr>
          <a:xfrm>
            <a:off x="6583680" y="2971800"/>
            <a:ext cx="4892040" cy="640080"/>
          </a:xfrm>
          <a:prstGeom prst="rect">
            <a:avLst/>
          </a:prstGeom>
          <a:noFill/>
        </p:spPr>
        <p:txBody>
          <a:bodyPr wrap="square" anchor="t"/>
          <a:lstStyle/>
          <a:p>
            <a:pPr algn="l">
              <a:spcBef>
                <a:spcPts val="0"/>
              </a:spcBef>
              <a:spcAft>
                <a:spcPts val="0"/>
              </a:spcAft>
            </a:pPr>
            <a:r>
              <a:rPr sz="1400" b="0">
                <a:solidFill>
                  <a:srgbClr val="A8ACB8"/>
                </a:solidFill>
                <a:latin typeface="Calibri"/>
              </a:rPr>
              <a:t>Avelis</a:t>
            </a:r>
          </a:p>
        </p:txBody>
      </p:sp>
      <p:sp>
        <p:nvSpPr>
          <p:cNvPr id="26" name="Rounded Rectangle 25"/>
          <p:cNvSpPr/>
          <p:nvPr/>
        </p:nvSpPr>
        <p:spPr>
          <a:xfrm>
            <a:off x="502920" y="416052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343400"/>
            <a:ext cx="4892040" cy="256032"/>
          </a:xfrm>
          <a:prstGeom prst="rect">
            <a:avLst/>
          </a:prstGeom>
          <a:noFill/>
        </p:spPr>
        <p:txBody>
          <a:bodyPr wrap="square" anchor="t"/>
          <a:lstStyle/>
          <a:p>
            <a:pPr algn="l">
              <a:spcBef>
                <a:spcPts val="0"/>
              </a:spcBef>
              <a:spcAft>
                <a:spcPts val="0"/>
              </a:spcAft>
            </a:pPr>
            <a:r>
              <a:rPr sz="1100" b="1">
                <a:solidFill>
                  <a:srgbClr val="5AAAB0"/>
                </a:solidFill>
                <a:latin typeface="Calibri"/>
              </a:rPr>
              <a:t>DEFAULT TOOLS</a:t>
            </a:r>
          </a:p>
        </p:txBody>
      </p:sp>
      <p:sp>
        <p:nvSpPr>
          <p:cNvPr id="28" name="TextBox 27"/>
          <p:cNvSpPr txBox="1"/>
          <p:nvPr/>
        </p:nvSpPr>
        <p:spPr>
          <a:xfrm>
            <a:off x="731520" y="4663440"/>
            <a:ext cx="4892040" cy="365760"/>
          </a:xfrm>
          <a:prstGeom prst="rect">
            <a:avLst/>
          </a:prstGeom>
          <a:noFill/>
        </p:spPr>
        <p:txBody>
          <a:bodyPr wrap="square" anchor="t"/>
          <a:lstStyle/>
          <a:p>
            <a:pPr algn="l">
              <a:spcBef>
                <a:spcPts val="0"/>
              </a:spcBef>
              <a:spcAft>
                <a:spcPts val="0"/>
              </a:spcAft>
            </a:pPr>
            <a:r>
              <a:rPr sz="1600" b="1">
                <a:solidFill>
                  <a:srgbClr val="EDECE4"/>
                </a:solidFill>
                <a:latin typeface="Calibri"/>
              </a:rPr>
              <a:t>No process, speech stored</a:t>
            </a:r>
          </a:p>
        </p:txBody>
      </p:sp>
      <p:sp>
        <p:nvSpPr>
          <p:cNvPr id="29" name="TextBox 28"/>
          <p:cNvSpPr txBox="1"/>
          <p:nvPr/>
        </p:nvSpPr>
        <p:spPr>
          <a:xfrm>
            <a:off x="731520" y="5120640"/>
            <a:ext cx="4892040" cy="640080"/>
          </a:xfrm>
          <a:prstGeom prst="rect">
            <a:avLst/>
          </a:prstGeom>
          <a:noFill/>
        </p:spPr>
        <p:txBody>
          <a:bodyPr wrap="square" anchor="t"/>
          <a:lstStyle/>
          <a:p>
            <a:pPr algn="l">
              <a:spcBef>
                <a:spcPts val="0"/>
              </a:spcBef>
              <a:spcAft>
                <a:spcPts val="0"/>
              </a:spcAft>
            </a:pPr>
            <a:r>
              <a:rPr sz="1400" b="0">
                <a:solidFill>
                  <a:srgbClr val="A8ACB8"/>
                </a:solidFill>
                <a:latin typeface="Calibri"/>
              </a:rPr>
              <a:t>Zoom · Teams · Meet · Slack</a:t>
            </a:r>
          </a:p>
        </p:txBody>
      </p:sp>
      <p:sp>
        <p:nvSpPr>
          <p:cNvPr id="30" name="Rounded Rectangle 29"/>
          <p:cNvSpPr/>
          <p:nvPr/>
        </p:nvSpPr>
        <p:spPr>
          <a:xfrm>
            <a:off x="6355080" y="416052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4343400"/>
            <a:ext cx="4892040" cy="256032"/>
          </a:xfrm>
          <a:prstGeom prst="rect">
            <a:avLst/>
          </a:prstGeom>
          <a:noFill/>
        </p:spPr>
        <p:txBody>
          <a:bodyPr wrap="square" anchor="t"/>
          <a:lstStyle/>
          <a:p>
            <a:pPr algn="l">
              <a:spcBef>
                <a:spcPts val="0"/>
              </a:spcBef>
              <a:spcAft>
                <a:spcPts val="0"/>
              </a:spcAft>
            </a:pPr>
            <a:r>
              <a:rPr sz="1100" b="1">
                <a:solidFill>
                  <a:srgbClr val="5AAAB0"/>
                </a:solidFill>
                <a:latin typeface="Calibri"/>
              </a:rPr>
              <a:t>CHAT WITHOUT A SESSION</a:t>
            </a:r>
          </a:p>
        </p:txBody>
      </p:sp>
      <p:sp>
        <p:nvSpPr>
          <p:cNvPr id="32" name="TextBox 31"/>
          <p:cNvSpPr txBox="1"/>
          <p:nvPr/>
        </p:nvSpPr>
        <p:spPr>
          <a:xfrm>
            <a:off x="6583680" y="4663440"/>
            <a:ext cx="4892040" cy="365760"/>
          </a:xfrm>
          <a:prstGeom prst="rect">
            <a:avLst/>
          </a:prstGeom>
          <a:noFill/>
        </p:spPr>
        <p:txBody>
          <a:bodyPr wrap="square" anchor="t"/>
          <a:lstStyle/>
          <a:p>
            <a:pPr algn="l">
              <a:spcBef>
                <a:spcPts val="0"/>
              </a:spcBef>
              <a:spcAft>
                <a:spcPts val="0"/>
              </a:spcAft>
            </a:pPr>
            <a:r>
              <a:rPr sz="1600" b="1">
                <a:solidFill>
                  <a:srgbClr val="EDECE4"/>
                </a:solidFill>
                <a:latin typeface="Calibri"/>
              </a:rPr>
              <a:t>No process, speech not stored</a:t>
            </a:r>
          </a:p>
        </p:txBody>
      </p:sp>
      <p:sp>
        <p:nvSpPr>
          <p:cNvPr id="33" name="TextBox 32"/>
          <p:cNvSpPr txBox="1"/>
          <p:nvPr/>
        </p:nvSpPr>
        <p:spPr>
          <a:xfrm>
            <a:off x="6583680" y="5120640"/>
            <a:ext cx="4892040" cy="640080"/>
          </a:xfrm>
          <a:prstGeom prst="rect">
            <a:avLst/>
          </a:prstGeom>
          <a:noFill/>
        </p:spPr>
        <p:txBody>
          <a:bodyPr wrap="square" anchor="t"/>
          <a:lstStyle/>
          <a:p>
            <a:pPr algn="l">
              <a:spcBef>
                <a:spcPts val="0"/>
              </a:spcBef>
              <a:spcAft>
                <a:spcPts val="0"/>
              </a:spcAft>
            </a:pPr>
            <a:r>
              <a:rPr sz="1400" b="0">
                <a:solidFill>
                  <a:srgbClr val="A8ACB8"/>
                </a:solidFill>
                <a:latin typeface="Calibri"/>
              </a:rPr>
              <a:t>Signal · disposable rooms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BUYER</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07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Who pays: the host of the session, not the parties.</a:t>
            </a:r>
          </a:p>
        </p:txBody>
      </p:sp>
      <p:sp>
        <p:nvSpPr>
          <p:cNvPr id="17" name="Rounded Rectangle 16"/>
          <p:cNvSpPr/>
          <p:nvPr/>
        </p:nvSpPr>
        <p:spPr>
          <a:xfrm>
            <a:off x="502920" y="201168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212848"/>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ADR providers &amp; neutrals</a:t>
            </a:r>
          </a:p>
        </p:txBody>
      </p:sp>
      <p:sp>
        <p:nvSpPr>
          <p:cNvPr id="19" name="TextBox 18"/>
          <p:cNvSpPr txBox="1"/>
          <p:nvPr/>
        </p:nvSpPr>
        <p:spPr>
          <a:xfrm>
            <a:off x="758952" y="2578608"/>
            <a:ext cx="4837176" cy="1234440"/>
          </a:xfrm>
          <a:prstGeom prst="rect">
            <a:avLst/>
          </a:prstGeom>
          <a:noFill/>
        </p:spPr>
        <p:txBody>
          <a:bodyPr wrap="square" anchor="t"/>
          <a:lstStyle/>
          <a:p>
            <a:pPr algn="l">
              <a:spcBef>
                <a:spcPts val="0"/>
              </a:spcBef>
              <a:spcAft>
                <a:spcPts val="0"/>
              </a:spcAft>
            </a:pPr>
            <a:r>
              <a:rPr sz="1300" b="0">
                <a:solidFill>
                  <a:srgbClr val="A8ACB8"/>
                </a:solidFill>
                <a:latin typeface="Calibri"/>
              </a:rPr>
              <a:t>JAMS-class panels, AAA-adjacent practices, boutique mediators who cannot run talks on a transcript machine.</a:t>
            </a:r>
          </a:p>
        </p:txBody>
      </p:sp>
      <p:sp>
        <p:nvSpPr>
          <p:cNvPr id="20" name="Rounded Rectangle 19"/>
          <p:cNvSpPr/>
          <p:nvPr/>
        </p:nvSpPr>
        <p:spPr>
          <a:xfrm>
            <a:off x="6355080" y="201168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11112" y="2212848"/>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Law firm settlement work</a:t>
            </a:r>
          </a:p>
        </p:txBody>
      </p:sp>
      <p:sp>
        <p:nvSpPr>
          <p:cNvPr id="22" name="TextBox 21"/>
          <p:cNvSpPr txBox="1"/>
          <p:nvPr/>
        </p:nvSpPr>
        <p:spPr>
          <a:xfrm>
            <a:off x="6611112" y="2578608"/>
            <a:ext cx="4837176" cy="1234440"/>
          </a:xfrm>
          <a:prstGeom prst="rect">
            <a:avLst/>
          </a:prstGeom>
          <a:noFill/>
        </p:spPr>
        <p:txBody>
          <a:bodyPr wrap="square" anchor="t"/>
          <a:lstStyle/>
          <a:p>
            <a:pPr algn="l">
              <a:spcBef>
                <a:spcPts val="0"/>
              </a:spcBef>
              <a:spcAft>
                <a:spcPts val="0"/>
              </a:spcAft>
            </a:pPr>
            <a:r>
              <a:rPr sz="1300" b="0">
                <a:solidFill>
                  <a:srgbClr val="A8ACB8"/>
                </a:solidFill>
                <a:latin typeface="Calibri"/>
              </a:rPr>
              <a:t>Employment, commercial, and cross-border talks where counsel must run process without producing a speech file.</a:t>
            </a:r>
          </a:p>
        </p:txBody>
      </p:sp>
      <p:sp>
        <p:nvSpPr>
          <p:cNvPr id="23" name="Rounded Rectangle 22"/>
          <p:cNvSpPr/>
          <p:nvPr/>
        </p:nvSpPr>
        <p:spPr>
          <a:xfrm>
            <a:off x="502920" y="416052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361688"/>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Corporate ombuds / ER facilitation</a:t>
            </a:r>
          </a:p>
        </p:txBody>
      </p:sp>
      <p:sp>
        <p:nvSpPr>
          <p:cNvPr id="25" name="TextBox 24"/>
          <p:cNvSpPr txBox="1"/>
          <p:nvPr/>
        </p:nvSpPr>
        <p:spPr>
          <a:xfrm>
            <a:off x="758952" y="4727448"/>
            <a:ext cx="4837176" cy="1234440"/>
          </a:xfrm>
          <a:prstGeom prst="rect">
            <a:avLst/>
          </a:prstGeom>
          <a:noFill/>
        </p:spPr>
        <p:txBody>
          <a:bodyPr wrap="square" anchor="t"/>
          <a:lstStyle/>
          <a:p>
            <a:pPr algn="l">
              <a:spcBef>
                <a:spcPts val="0"/>
              </a:spcBef>
              <a:spcAft>
                <a:spcPts val="0"/>
              </a:spcAft>
            </a:pPr>
            <a:r>
              <a:rPr sz="1300" b="0">
                <a:solidFill>
                  <a:srgbClr val="A8ACB8"/>
                </a:solidFill>
                <a:latin typeface="Calibri"/>
              </a:rPr>
              <a:t>Offices that need a live session and a process trail — not a case-management dossier of who said what.</a:t>
            </a:r>
          </a:p>
        </p:txBody>
      </p:sp>
      <p:sp>
        <p:nvSpPr>
          <p:cNvPr id="26" name="Rounded Rectangle 25"/>
          <p:cNvSpPr/>
          <p:nvPr/>
        </p:nvSpPr>
        <p:spPr>
          <a:xfrm>
            <a:off x="6355080" y="4160520"/>
            <a:ext cx="5349240" cy="19659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11112" y="4361688"/>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Institutional hosts</a:t>
            </a:r>
          </a:p>
        </p:txBody>
      </p:sp>
      <p:sp>
        <p:nvSpPr>
          <p:cNvPr id="28" name="TextBox 27"/>
          <p:cNvSpPr txBox="1"/>
          <p:nvPr/>
        </p:nvSpPr>
        <p:spPr>
          <a:xfrm>
            <a:off x="6611112" y="4727448"/>
            <a:ext cx="4837176" cy="1234440"/>
          </a:xfrm>
          <a:prstGeom prst="rect">
            <a:avLst/>
          </a:prstGeom>
          <a:noFill/>
        </p:spPr>
        <p:txBody>
          <a:bodyPr wrap="square" anchor="t"/>
          <a:lstStyle/>
          <a:p>
            <a:pPr algn="l">
              <a:spcBef>
                <a:spcPts val="0"/>
              </a:spcBef>
              <a:spcAft>
                <a:spcPts val="0"/>
              </a:spcAft>
            </a:pPr>
            <a:r>
              <a:rPr sz="1300" b="0">
                <a:solidFill>
                  <a:srgbClr val="A8ACB8"/>
                </a:solidFill>
                <a:latin typeface="Calibri"/>
              </a:rPr>
              <a:t>Campus, international organization, and public-sector facilitation units with residency and DPA requirements.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HOW THIS IS FUNDED</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08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Probability is conditional. Traction is the switch.</a:t>
            </a:r>
          </a:p>
        </p:txBody>
      </p:sp>
      <p:sp>
        <p:nvSpPr>
          <p:cNvPr id="17" name="Rounded Rectangle 16"/>
          <p:cNvSpPr/>
          <p:nvPr/>
        </p:nvSpPr>
        <p:spPr>
          <a:xfrm>
            <a:off x="502920" y="1874519"/>
            <a:ext cx="3611880" cy="41605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1874519"/>
            <a:ext cx="19050" cy="416052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057400"/>
            <a:ext cx="3200400" cy="274320"/>
          </a:xfrm>
          <a:prstGeom prst="rect">
            <a:avLst/>
          </a:prstGeom>
          <a:noFill/>
        </p:spPr>
        <p:txBody>
          <a:bodyPr wrap="square" anchor="t"/>
          <a:lstStyle/>
          <a:p>
            <a:pPr algn="l">
              <a:spcBef>
                <a:spcPts val="0"/>
              </a:spcBef>
              <a:spcAft>
                <a:spcPts val="0"/>
              </a:spcAft>
            </a:pPr>
            <a:r>
              <a:rPr sz="1100" b="1">
                <a:solidFill>
                  <a:srgbClr val="5AAAB0"/>
                </a:solidFill>
                <a:latin typeface="Calibri"/>
              </a:rPr>
              <a:t>B2B / BOUTIQUE</a:t>
            </a:r>
          </a:p>
        </p:txBody>
      </p:sp>
      <p:sp>
        <p:nvSpPr>
          <p:cNvPr id="20" name="TextBox 19"/>
          <p:cNvSpPr txBox="1"/>
          <p:nvPr/>
        </p:nvSpPr>
        <p:spPr>
          <a:xfrm>
            <a:off x="731520" y="2423160"/>
            <a:ext cx="3200400" cy="731520"/>
          </a:xfrm>
          <a:prstGeom prst="rect">
            <a:avLst/>
          </a:prstGeom>
          <a:noFill/>
        </p:spPr>
        <p:txBody>
          <a:bodyPr wrap="square" anchor="t"/>
          <a:lstStyle/>
          <a:p>
            <a:pPr algn="l">
              <a:spcBef>
                <a:spcPts val="0"/>
              </a:spcBef>
              <a:spcAft>
                <a:spcPts val="0"/>
              </a:spcAft>
            </a:pPr>
            <a:r>
              <a:rPr sz="3200" b="1">
                <a:solidFill>
                  <a:srgbClr val="EDECE4"/>
                </a:solidFill>
                <a:latin typeface="Calibri"/>
              </a:rPr>
              <a:t>75–85%</a:t>
            </a:r>
          </a:p>
        </p:txBody>
      </p:sp>
      <p:sp>
        <p:nvSpPr>
          <p:cNvPr id="21" name="TextBox 20"/>
          <p:cNvSpPr txBox="1"/>
          <p:nvPr/>
        </p:nvSpPr>
        <p:spPr>
          <a:xfrm>
            <a:off x="731520" y="3291840"/>
            <a:ext cx="3200400" cy="2377440"/>
          </a:xfrm>
          <a:prstGeom prst="rect">
            <a:avLst/>
          </a:prstGeom>
          <a:noFill/>
        </p:spPr>
        <p:txBody>
          <a:bodyPr wrap="square" anchor="t"/>
          <a:lstStyle/>
          <a:p>
            <a:pPr algn="l">
              <a:spcBef>
                <a:spcPts val="0"/>
              </a:spcBef>
              <a:spcAft>
                <a:spcPts val="0"/>
              </a:spcAft>
            </a:pPr>
            <a:r>
              <a:rPr sz="1400" b="0">
                <a:solidFill>
                  <a:srgbClr val="A8ACB8"/>
                </a:solidFill>
                <a:latin typeface="Calibri"/>
              </a:rPr>
              <a:t>Close 3–5 ADR firms or mid-market ombuds on annual retainers. Design-partner kit is ready. Discipline is the product.</a:t>
            </a:r>
          </a:p>
        </p:txBody>
      </p:sp>
      <p:sp>
        <p:nvSpPr>
          <p:cNvPr id="22" name="Rounded Rectangle 21"/>
          <p:cNvSpPr/>
          <p:nvPr/>
        </p:nvSpPr>
        <p:spPr>
          <a:xfrm>
            <a:off x="4343400" y="1874519"/>
            <a:ext cx="3611880" cy="41605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1874519"/>
            <a:ext cx="19050" cy="416052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2057400"/>
            <a:ext cx="3200400" cy="274320"/>
          </a:xfrm>
          <a:prstGeom prst="rect">
            <a:avLst/>
          </a:prstGeom>
          <a:noFill/>
        </p:spPr>
        <p:txBody>
          <a:bodyPr wrap="square" anchor="t"/>
          <a:lstStyle/>
          <a:p>
            <a:pPr algn="l">
              <a:spcBef>
                <a:spcPts val="0"/>
              </a:spcBef>
              <a:spcAft>
                <a:spcPts val="0"/>
              </a:spcAft>
            </a:pPr>
            <a:r>
              <a:rPr sz="1100" b="1">
                <a:solidFill>
                  <a:srgbClr val="5AAAB0"/>
                </a:solidFill>
                <a:latin typeface="Calibri"/>
              </a:rPr>
              <a:t>ACCELERATOR</a:t>
            </a:r>
          </a:p>
        </p:txBody>
      </p:sp>
      <p:sp>
        <p:nvSpPr>
          <p:cNvPr id="25" name="TextBox 24"/>
          <p:cNvSpPr txBox="1"/>
          <p:nvPr/>
        </p:nvSpPr>
        <p:spPr>
          <a:xfrm>
            <a:off x="4572000" y="2423160"/>
            <a:ext cx="3200400" cy="731520"/>
          </a:xfrm>
          <a:prstGeom prst="rect">
            <a:avLst/>
          </a:prstGeom>
          <a:noFill/>
        </p:spPr>
        <p:txBody>
          <a:bodyPr wrap="square" anchor="t"/>
          <a:lstStyle/>
          <a:p>
            <a:pPr algn="l">
              <a:spcBef>
                <a:spcPts val="0"/>
              </a:spcBef>
              <a:spcAft>
                <a:spcPts val="0"/>
              </a:spcAft>
            </a:pPr>
            <a:r>
              <a:rPr sz="3200" b="1">
                <a:solidFill>
                  <a:srgbClr val="EDECE4"/>
                </a:solidFill>
                <a:latin typeface="Calibri"/>
              </a:rPr>
              <a:t>60–70%</a:t>
            </a:r>
          </a:p>
        </p:txBody>
      </p:sp>
      <p:sp>
        <p:nvSpPr>
          <p:cNvPr id="26" name="TextBox 25"/>
          <p:cNvSpPr txBox="1"/>
          <p:nvPr/>
        </p:nvSpPr>
        <p:spPr>
          <a:xfrm>
            <a:off x="4572000" y="3291840"/>
            <a:ext cx="3200400" cy="2377440"/>
          </a:xfrm>
          <a:prstGeom prst="rect">
            <a:avLst/>
          </a:prstGeom>
          <a:noFill/>
        </p:spPr>
        <p:txBody>
          <a:bodyPr wrap="square" anchor="t"/>
          <a:lstStyle/>
          <a:p>
            <a:pPr algn="l">
              <a:spcBef>
                <a:spcPts val="0"/>
              </a:spcBef>
              <a:spcAft>
                <a:spcPts val="0"/>
              </a:spcAft>
            </a:pPr>
            <a:r>
              <a:rPr sz="1400" b="0">
                <a:solidFill>
                  <a:srgbClr val="A8ACB8"/>
                </a:solidFill>
                <a:latin typeface="Calibri"/>
              </a:rPr>
              <a:t>YC / Techstars / Speedrun: technical founder, working chamber, anti-surveillance thesis, DPA packet. Consumer loop is a reject.</a:t>
            </a:r>
          </a:p>
        </p:txBody>
      </p:sp>
      <p:sp>
        <p:nvSpPr>
          <p:cNvPr id="27" name="Rounded Rectangle 26"/>
          <p:cNvSpPr/>
          <p:nvPr/>
        </p:nvSpPr>
        <p:spPr>
          <a:xfrm>
            <a:off x="8183880" y="1874519"/>
            <a:ext cx="3611880" cy="41605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80" y="1874519"/>
            <a:ext cx="19050" cy="416052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057400"/>
            <a:ext cx="3200400" cy="274320"/>
          </a:xfrm>
          <a:prstGeom prst="rect">
            <a:avLst/>
          </a:prstGeom>
          <a:noFill/>
        </p:spPr>
        <p:txBody>
          <a:bodyPr wrap="square" anchor="t"/>
          <a:lstStyle/>
          <a:p>
            <a:pPr algn="l">
              <a:spcBef>
                <a:spcPts val="0"/>
              </a:spcBef>
              <a:spcAft>
                <a:spcPts val="0"/>
              </a:spcAft>
            </a:pPr>
            <a:r>
              <a:rPr sz="1100" b="1">
                <a:solidFill>
                  <a:srgbClr val="5AAAB0"/>
                </a:solidFill>
                <a:latin typeface="Calibri"/>
              </a:rPr>
              <a:t>TRADITIONAL SEED</a:t>
            </a:r>
          </a:p>
        </p:txBody>
      </p:sp>
      <p:sp>
        <p:nvSpPr>
          <p:cNvPr id="30" name="TextBox 29"/>
          <p:cNvSpPr txBox="1"/>
          <p:nvPr/>
        </p:nvSpPr>
        <p:spPr>
          <a:xfrm>
            <a:off x="8412480" y="2423160"/>
            <a:ext cx="3200400" cy="731520"/>
          </a:xfrm>
          <a:prstGeom prst="rect">
            <a:avLst/>
          </a:prstGeom>
          <a:noFill/>
        </p:spPr>
        <p:txBody>
          <a:bodyPr wrap="square" anchor="t"/>
          <a:lstStyle/>
          <a:p>
            <a:pPr algn="l">
              <a:spcBef>
                <a:spcPts val="0"/>
              </a:spcBef>
              <a:spcAft>
                <a:spcPts val="0"/>
              </a:spcAft>
            </a:pPr>
            <a:r>
              <a:rPr sz="3200" b="1">
                <a:solidFill>
                  <a:srgbClr val="EDECE4"/>
                </a:solidFill>
                <a:latin typeface="Calibri"/>
              </a:rPr>
              <a:t>20–30%</a:t>
            </a:r>
          </a:p>
        </p:txBody>
      </p:sp>
      <p:sp>
        <p:nvSpPr>
          <p:cNvPr id="31" name="TextBox 30"/>
          <p:cNvSpPr txBox="1"/>
          <p:nvPr/>
        </p:nvSpPr>
        <p:spPr>
          <a:xfrm>
            <a:off x="8412480" y="3291840"/>
            <a:ext cx="3200400" cy="2377440"/>
          </a:xfrm>
          <a:prstGeom prst="rect">
            <a:avLst/>
          </a:prstGeom>
          <a:noFill/>
        </p:spPr>
        <p:txBody>
          <a:bodyPr wrap="square" anchor="t"/>
          <a:lstStyle/>
          <a:p>
            <a:pPr algn="l">
              <a:spcBef>
                <a:spcPts val="0"/>
              </a:spcBef>
              <a:spcAft>
                <a:spcPts val="0"/>
              </a:spcAft>
            </a:pPr>
            <a:r>
              <a:rPr sz="1400" b="0">
                <a:solidFill>
                  <a:srgbClr val="A8ACB8"/>
                </a:solidFill>
                <a:latin typeface="Calibri"/>
              </a:rPr>
              <a:t>$2M at a $15M+ cap still needs pilots, ARR, and a second hire. Solo-founder risk is named, not hidden.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PRICING</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09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Pricing follows the host, not the participant.</a:t>
            </a:r>
          </a:p>
        </p:txBody>
      </p:sp>
      <p:sp>
        <p:nvSpPr>
          <p:cNvPr id="17" name="Rounded Rectangle 16"/>
          <p:cNvSpPr/>
          <p:nvPr/>
        </p:nvSpPr>
        <p:spPr>
          <a:xfrm>
            <a:off x="502920" y="2103120"/>
            <a:ext cx="274320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31720"/>
            <a:ext cx="2377440" cy="274320"/>
          </a:xfrm>
          <a:prstGeom prst="rect">
            <a:avLst/>
          </a:prstGeom>
          <a:noFill/>
        </p:spPr>
        <p:txBody>
          <a:bodyPr wrap="square" anchor="t"/>
          <a:lstStyle/>
          <a:p>
            <a:pPr algn="l">
              <a:spcBef>
                <a:spcPts val="0"/>
              </a:spcBef>
              <a:spcAft>
                <a:spcPts val="0"/>
              </a:spcAft>
            </a:pPr>
            <a:r>
              <a:rPr sz="1100" b="1">
                <a:solidFill>
                  <a:srgbClr val="5AAAB0"/>
                </a:solidFill>
                <a:latin typeface="Calibri"/>
              </a:rPr>
              <a:t>PRACTICE</a:t>
            </a:r>
          </a:p>
        </p:txBody>
      </p:sp>
      <p:sp>
        <p:nvSpPr>
          <p:cNvPr id="19" name="TextBox 18"/>
          <p:cNvSpPr txBox="1"/>
          <p:nvPr/>
        </p:nvSpPr>
        <p:spPr>
          <a:xfrm>
            <a:off x="685800" y="2834640"/>
            <a:ext cx="2377440" cy="1097280"/>
          </a:xfrm>
          <a:prstGeom prst="rect">
            <a:avLst/>
          </a:prstGeom>
          <a:noFill/>
        </p:spPr>
        <p:txBody>
          <a:bodyPr wrap="square" anchor="t"/>
          <a:lstStyle/>
          <a:p>
            <a:pPr algn="l">
              <a:spcBef>
                <a:spcPts val="0"/>
              </a:spcBef>
              <a:spcAft>
                <a:spcPts val="0"/>
              </a:spcAft>
            </a:pPr>
            <a:r>
              <a:rPr sz="2200" b="1">
                <a:solidFill>
                  <a:srgbClr val="EDECE4"/>
                </a:solidFill>
                <a:latin typeface="Calibri"/>
              </a:rPr>
              <a:t>$14,400 / yr</a:t>
            </a:r>
          </a:p>
        </p:txBody>
      </p:sp>
      <p:sp>
        <p:nvSpPr>
          <p:cNvPr id="20" name="TextBox 19"/>
          <p:cNvSpPr txBox="1"/>
          <p:nvPr/>
        </p:nvSpPr>
        <p:spPr>
          <a:xfrm>
            <a:off x="685800" y="4114800"/>
            <a:ext cx="2377440" cy="1005840"/>
          </a:xfrm>
          <a:prstGeom prst="rect">
            <a:avLst/>
          </a:prstGeom>
          <a:noFill/>
        </p:spPr>
        <p:txBody>
          <a:bodyPr wrap="square" anchor="t"/>
          <a:lstStyle/>
          <a:p>
            <a:pPr algn="l">
              <a:spcBef>
                <a:spcPts val="0"/>
              </a:spcBef>
              <a:spcAft>
                <a:spcPts val="0"/>
              </a:spcAft>
            </a:pPr>
            <a:r>
              <a:rPr sz="1400" b="0">
                <a:solidFill>
                  <a:srgbClr val="A8ACB8"/>
                </a:solidFill>
                <a:latin typeface="Calibri"/>
              </a:rPr>
              <a:t>1–3 facilitator seats</a:t>
            </a:r>
          </a:p>
        </p:txBody>
      </p:sp>
      <p:sp>
        <p:nvSpPr>
          <p:cNvPr id="21" name="Rounded Rectangle 20"/>
          <p:cNvSpPr/>
          <p:nvPr/>
        </p:nvSpPr>
        <p:spPr>
          <a:xfrm>
            <a:off x="3383280" y="2103120"/>
            <a:ext cx="274320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2331720"/>
            <a:ext cx="2377440" cy="274320"/>
          </a:xfrm>
          <a:prstGeom prst="rect">
            <a:avLst/>
          </a:prstGeom>
          <a:noFill/>
        </p:spPr>
        <p:txBody>
          <a:bodyPr wrap="square" anchor="t"/>
          <a:lstStyle/>
          <a:p>
            <a:pPr algn="l">
              <a:spcBef>
                <a:spcPts val="0"/>
              </a:spcBef>
              <a:spcAft>
                <a:spcPts val="0"/>
              </a:spcAft>
            </a:pPr>
            <a:r>
              <a:rPr sz="1100" b="1">
                <a:solidFill>
                  <a:srgbClr val="5AAAB0"/>
                </a:solidFill>
                <a:latin typeface="Calibri"/>
              </a:rPr>
              <a:t>FIRM / ADR OFFICE</a:t>
            </a:r>
          </a:p>
        </p:txBody>
      </p:sp>
      <p:sp>
        <p:nvSpPr>
          <p:cNvPr id="23" name="TextBox 22"/>
          <p:cNvSpPr txBox="1"/>
          <p:nvPr/>
        </p:nvSpPr>
        <p:spPr>
          <a:xfrm>
            <a:off x="3566160" y="2834640"/>
            <a:ext cx="2377440" cy="1097280"/>
          </a:xfrm>
          <a:prstGeom prst="rect">
            <a:avLst/>
          </a:prstGeom>
          <a:noFill/>
        </p:spPr>
        <p:txBody>
          <a:bodyPr wrap="square" anchor="t"/>
          <a:lstStyle/>
          <a:p>
            <a:pPr algn="l">
              <a:spcBef>
                <a:spcPts val="0"/>
              </a:spcBef>
              <a:spcAft>
                <a:spcPts val="0"/>
              </a:spcAft>
            </a:pPr>
            <a:r>
              <a:rPr sz="2200" b="1">
                <a:solidFill>
                  <a:srgbClr val="EDECE4"/>
                </a:solidFill>
                <a:latin typeface="Calibri"/>
              </a:rPr>
              <a:t>$54,000 / yr</a:t>
            </a:r>
          </a:p>
        </p:txBody>
      </p:sp>
      <p:sp>
        <p:nvSpPr>
          <p:cNvPr id="24" name="TextBox 23"/>
          <p:cNvSpPr txBox="1"/>
          <p:nvPr/>
        </p:nvSpPr>
        <p:spPr>
          <a:xfrm>
            <a:off x="3566160" y="4114800"/>
            <a:ext cx="2377440" cy="1005840"/>
          </a:xfrm>
          <a:prstGeom prst="rect">
            <a:avLst/>
          </a:prstGeom>
          <a:noFill/>
        </p:spPr>
        <p:txBody>
          <a:bodyPr wrap="square" anchor="t"/>
          <a:lstStyle/>
          <a:p>
            <a:pPr algn="l">
              <a:spcBef>
                <a:spcPts val="0"/>
              </a:spcBef>
              <a:spcAft>
                <a:spcPts val="0"/>
              </a:spcAft>
            </a:pPr>
            <a:r>
              <a:rPr sz="1400" b="0">
                <a:solidFill>
                  <a:srgbClr val="A8ACB8"/>
                </a:solidFill>
                <a:latin typeface="Calibri"/>
              </a:rPr>
              <a:t>Multi-facilitator host</a:t>
            </a:r>
          </a:p>
        </p:txBody>
      </p:sp>
      <p:sp>
        <p:nvSpPr>
          <p:cNvPr id="25" name="Rounded Rectangle 24"/>
          <p:cNvSpPr/>
          <p:nvPr/>
        </p:nvSpPr>
        <p:spPr>
          <a:xfrm>
            <a:off x="6263640" y="2103120"/>
            <a:ext cx="274320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2331720"/>
            <a:ext cx="2377440" cy="274320"/>
          </a:xfrm>
          <a:prstGeom prst="rect">
            <a:avLst/>
          </a:prstGeom>
          <a:noFill/>
        </p:spPr>
        <p:txBody>
          <a:bodyPr wrap="square" anchor="t"/>
          <a:lstStyle/>
          <a:p>
            <a:pPr algn="l">
              <a:spcBef>
                <a:spcPts val="0"/>
              </a:spcBef>
              <a:spcAft>
                <a:spcPts val="0"/>
              </a:spcAft>
            </a:pPr>
            <a:r>
              <a:rPr sz="1100" b="1">
                <a:solidFill>
                  <a:srgbClr val="5AAAB0"/>
                </a:solidFill>
                <a:latin typeface="Calibri"/>
              </a:rPr>
              <a:t>CORPORATE HOST</a:t>
            </a:r>
          </a:p>
        </p:txBody>
      </p:sp>
      <p:sp>
        <p:nvSpPr>
          <p:cNvPr id="27" name="TextBox 26"/>
          <p:cNvSpPr txBox="1"/>
          <p:nvPr/>
        </p:nvSpPr>
        <p:spPr>
          <a:xfrm>
            <a:off x="6446520" y="2834640"/>
            <a:ext cx="2377440" cy="1097280"/>
          </a:xfrm>
          <a:prstGeom prst="rect">
            <a:avLst/>
          </a:prstGeom>
          <a:noFill/>
        </p:spPr>
        <p:txBody>
          <a:bodyPr wrap="square" anchor="t"/>
          <a:lstStyle/>
          <a:p>
            <a:pPr algn="l">
              <a:spcBef>
                <a:spcPts val="0"/>
              </a:spcBef>
              <a:spcAft>
                <a:spcPts val="0"/>
              </a:spcAft>
            </a:pPr>
            <a:r>
              <a:rPr sz="2200" b="1">
                <a:solidFill>
                  <a:srgbClr val="EDECE4"/>
                </a:solidFill>
                <a:latin typeface="Calibri"/>
              </a:rPr>
              <a:t>$84,000 / yr</a:t>
            </a:r>
          </a:p>
        </p:txBody>
      </p:sp>
      <p:sp>
        <p:nvSpPr>
          <p:cNvPr id="28" name="TextBox 27"/>
          <p:cNvSpPr txBox="1"/>
          <p:nvPr/>
        </p:nvSpPr>
        <p:spPr>
          <a:xfrm>
            <a:off x="6446520" y="4114800"/>
            <a:ext cx="2377440" cy="1005840"/>
          </a:xfrm>
          <a:prstGeom prst="rect">
            <a:avLst/>
          </a:prstGeom>
          <a:noFill/>
        </p:spPr>
        <p:txBody>
          <a:bodyPr wrap="square" anchor="t"/>
          <a:lstStyle/>
          <a:p>
            <a:pPr algn="l">
              <a:spcBef>
                <a:spcPts val="0"/>
              </a:spcBef>
              <a:spcAft>
                <a:spcPts val="0"/>
              </a:spcAft>
            </a:pPr>
            <a:r>
              <a:rPr sz="1400" b="0">
                <a:solidFill>
                  <a:srgbClr val="A8ACB8"/>
                </a:solidFill>
                <a:latin typeface="Calibri"/>
              </a:rPr>
              <a:t>Ombuds / ER facilitation</a:t>
            </a:r>
          </a:p>
        </p:txBody>
      </p:sp>
      <p:sp>
        <p:nvSpPr>
          <p:cNvPr id="29" name="Rounded Rectangle 28"/>
          <p:cNvSpPr/>
          <p:nvPr/>
        </p:nvSpPr>
        <p:spPr>
          <a:xfrm>
            <a:off x="9144000" y="2103120"/>
            <a:ext cx="274320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0" y="2331720"/>
            <a:ext cx="2377440" cy="274320"/>
          </a:xfrm>
          <a:prstGeom prst="rect">
            <a:avLst/>
          </a:prstGeom>
          <a:noFill/>
        </p:spPr>
        <p:txBody>
          <a:bodyPr wrap="square" anchor="t"/>
          <a:lstStyle/>
          <a:p>
            <a:pPr algn="l">
              <a:spcBef>
                <a:spcPts val="0"/>
              </a:spcBef>
              <a:spcAft>
                <a:spcPts val="0"/>
              </a:spcAft>
            </a:pPr>
            <a:r>
              <a:rPr sz="1100" b="1">
                <a:solidFill>
                  <a:srgbClr val="5AAAB0"/>
                </a:solidFill>
                <a:latin typeface="Calibri"/>
              </a:rPr>
              <a:t>DEDICATED RESIDENCY</a:t>
            </a:r>
          </a:p>
        </p:txBody>
      </p:sp>
      <p:sp>
        <p:nvSpPr>
          <p:cNvPr id="31" name="TextBox 30"/>
          <p:cNvSpPr txBox="1"/>
          <p:nvPr/>
        </p:nvSpPr>
        <p:spPr>
          <a:xfrm>
            <a:off x="9326880" y="2834640"/>
            <a:ext cx="2377440" cy="1097280"/>
          </a:xfrm>
          <a:prstGeom prst="rect">
            <a:avLst/>
          </a:prstGeom>
          <a:noFill/>
        </p:spPr>
        <p:txBody>
          <a:bodyPr wrap="square" anchor="t"/>
          <a:lstStyle/>
          <a:p>
            <a:pPr algn="l">
              <a:spcBef>
                <a:spcPts val="0"/>
              </a:spcBef>
              <a:spcAft>
                <a:spcPts val="0"/>
              </a:spcAft>
            </a:pPr>
            <a:r>
              <a:rPr sz="2200" b="1">
                <a:solidFill>
                  <a:srgbClr val="EDECE4"/>
                </a:solidFill>
                <a:latin typeface="Calibri"/>
              </a:rPr>
              <a:t>$160,000 yr-1</a:t>
            </a:r>
          </a:p>
        </p:txBody>
      </p:sp>
      <p:sp>
        <p:nvSpPr>
          <p:cNvPr id="32" name="TextBox 31"/>
          <p:cNvSpPr txBox="1"/>
          <p:nvPr/>
        </p:nvSpPr>
        <p:spPr>
          <a:xfrm>
            <a:off x="9326880" y="4114800"/>
            <a:ext cx="2377440" cy="1005840"/>
          </a:xfrm>
          <a:prstGeom prst="rect">
            <a:avLst/>
          </a:prstGeom>
          <a:noFill/>
        </p:spPr>
        <p:txBody>
          <a:bodyPr wrap="square" anchor="t"/>
          <a:lstStyle/>
          <a:p>
            <a:pPr algn="l">
              <a:spcBef>
                <a:spcPts val="0"/>
              </a:spcBef>
              <a:spcAft>
                <a:spcPts val="0"/>
              </a:spcAft>
            </a:pPr>
            <a:r>
              <a:rPr sz="1400" b="0">
                <a:solidFill>
                  <a:srgbClr val="A8ACB8"/>
                </a:solidFill>
                <a:latin typeface="Calibri"/>
              </a:rPr>
              <a:t>Implementation + host keys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FIVE-YEAR PLAN</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10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Five-year base case: institutional, not hockey-stick consumer.</a:t>
            </a:r>
          </a:p>
        </p:txBody>
      </p:sp>
      <p:sp>
        <p:nvSpPr>
          <p:cNvPr id="17" name="Rounded Rectangle 16"/>
          <p:cNvSpPr/>
          <p:nvPr/>
        </p:nvSpPr>
        <p:spPr>
          <a:xfrm>
            <a:off x="502920" y="2011680"/>
            <a:ext cx="7498079" cy="41148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48840"/>
            <a:ext cx="7040880" cy="274320"/>
          </a:xfrm>
          <a:prstGeom prst="rect">
            <a:avLst/>
          </a:prstGeom>
          <a:noFill/>
        </p:spPr>
        <p:txBody>
          <a:bodyPr wrap="square" anchor="t"/>
          <a:lstStyle/>
          <a:p>
            <a:pPr algn="l">
              <a:spcBef>
                <a:spcPts val="0"/>
              </a:spcBef>
              <a:spcAft>
                <a:spcPts val="0"/>
              </a:spcAft>
            </a:pPr>
            <a:r>
              <a:rPr sz="1100" b="1">
                <a:solidFill>
                  <a:srgbClr val="5AAAB0"/>
                </a:solidFill>
                <a:latin typeface="Calibri"/>
              </a:rPr>
              <a:t>ENDING ARR ($M)</a:t>
            </a:r>
          </a:p>
        </p:txBody>
      </p:sp>
      <p:graphicFrame>
        <p:nvGraphicFramePr>
          <p:cNvPr id="19" name="Chart 18"/>
          <p:cNvGraphicFramePr>
            <a:graphicFrameLocks noGrp="1"/>
          </p:cNvGraphicFramePr>
          <p:nvPr/>
        </p:nvGraphicFramePr>
        <p:xfrm>
          <a:off x="1005840" y="2651760"/>
          <a:ext cx="6675120" cy="2926080"/>
        </p:xfrm>
        <a:graphic>
          <a:graphicData uri="http://schemas.openxmlformats.org/drawingml/2006/chart">
            <c:chart xmlns:c="http://schemas.openxmlformats.org/drawingml/2006/chart" r:id="rId2"/>
          </a:graphicData>
        </a:graphic>
      </p:graphicFrame>
      <p:sp>
        <p:nvSpPr>
          <p:cNvPr id="20" name="TextBox 19"/>
          <p:cNvSpPr txBox="1"/>
          <p:nvPr/>
        </p:nvSpPr>
        <p:spPr>
          <a:xfrm>
            <a:off x="8229600" y="2103120"/>
            <a:ext cx="3474720" cy="3931920"/>
          </a:xfrm>
          <a:prstGeom prst="rect">
            <a:avLst/>
          </a:prstGeom>
          <a:noFill/>
        </p:spPr>
        <p:txBody>
          <a:bodyPr wrap="square">
            <a:spAutoFit/>
          </a:bodyPr>
          <a:lstStyle/>
          <a:p>
            <a:pPr>
              <a:spcAft>
                <a:spcPts val="1000"/>
              </a:spcAft>
            </a:pPr>
            <a:r>
              <a:rPr sz="1400" b="0">
                <a:solidFill>
                  <a:srgbClr val="A8ACB8"/>
                </a:solidFill>
                <a:latin typeface="Calibri"/>
              </a:rPr>
              <a:t>FY27 ARR $0.36M · 12 hosts · founder-led</a:t>
            </a:r>
          </a:p>
          <a:p>
            <a:pPr>
              <a:spcAft>
                <a:spcPts val="1000"/>
              </a:spcAft>
            </a:pPr>
            <a:r>
              <a:rPr sz="1400" b="0">
                <a:solidFill>
                  <a:srgbClr val="A8ACB8"/>
                </a:solidFill>
                <a:latin typeface="Calibri"/>
              </a:rPr>
              <a:t>FY29 ARR $3.4M · first full operating profit</a:t>
            </a:r>
          </a:p>
          <a:p>
            <a:pPr>
              <a:spcAft>
                <a:spcPts val="1000"/>
              </a:spcAft>
            </a:pPr>
            <a:r>
              <a:rPr sz="1400" b="0">
                <a:solidFill>
                  <a:srgbClr val="A8ACB8"/>
                </a:solidFill>
                <a:latin typeface="Calibri"/>
              </a:rPr>
              <a:t>FY31 ARR $14.8M · 220 hosts · blended ACV $67k</a:t>
            </a:r>
          </a:p>
          <a:p>
            <a:pPr>
              <a:spcAft>
                <a:spcPts val="1000"/>
              </a:spcAft>
            </a:pPr>
            <a:r>
              <a:rPr sz="1400" b="0">
                <a:solidFill>
                  <a:srgbClr val="A8ACB8"/>
                </a:solidFill>
                <a:latin typeface="Calibri"/>
              </a:rPr>
              <a:t>Gross margin 84%+ from FY29</a:t>
            </a:r>
          </a:p>
          <a:p>
            <a:pPr>
              <a:spcAft>
                <a:spcPts val="1000"/>
              </a:spcAft>
            </a:pPr>
            <a:r>
              <a:rPr sz="1400" b="0">
                <a:solidFill>
                  <a:srgbClr val="A8ACB8"/>
                </a:solidFill>
                <a:latin typeface="Calibri"/>
              </a:rPr>
              <a:t>Logo churn modeled 8–10% — long evaluation, low volume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MARKET</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11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TAM is professional session software — not AI-judge headlines.</a:t>
            </a:r>
          </a:p>
        </p:txBody>
      </p:sp>
      <p:sp>
        <p:nvSpPr>
          <p:cNvPr id="17" name="Rounded Rectangle 16"/>
          <p:cNvSpPr/>
          <p:nvPr/>
        </p:nvSpPr>
        <p:spPr>
          <a:xfrm>
            <a:off x="502920" y="2103120"/>
            <a:ext cx="361188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331720"/>
            <a:ext cx="3154680" cy="274320"/>
          </a:xfrm>
          <a:prstGeom prst="rect">
            <a:avLst/>
          </a:prstGeom>
          <a:noFill/>
        </p:spPr>
        <p:txBody>
          <a:bodyPr wrap="square" anchor="t"/>
          <a:lstStyle/>
          <a:p>
            <a:pPr algn="l">
              <a:spcBef>
                <a:spcPts val="0"/>
              </a:spcBef>
              <a:spcAft>
                <a:spcPts val="0"/>
              </a:spcAft>
            </a:pPr>
            <a:r>
              <a:rPr sz="1200" b="1">
                <a:solidFill>
                  <a:srgbClr val="5AAAB0"/>
                </a:solidFill>
                <a:latin typeface="Calibri"/>
              </a:rPr>
              <a:t>TAM</a:t>
            </a:r>
          </a:p>
        </p:txBody>
      </p:sp>
      <p:sp>
        <p:nvSpPr>
          <p:cNvPr id="19" name="TextBox 18"/>
          <p:cNvSpPr txBox="1"/>
          <p:nvPr/>
        </p:nvSpPr>
        <p:spPr>
          <a:xfrm>
            <a:off x="731520" y="2788920"/>
            <a:ext cx="3154680" cy="822960"/>
          </a:xfrm>
          <a:prstGeom prst="rect">
            <a:avLst/>
          </a:prstGeom>
          <a:noFill/>
        </p:spPr>
        <p:txBody>
          <a:bodyPr wrap="square" anchor="t"/>
          <a:lstStyle/>
          <a:p>
            <a:pPr algn="l">
              <a:spcBef>
                <a:spcPts val="0"/>
              </a:spcBef>
              <a:spcAft>
                <a:spcPts val="0"/>
              </a:spcAft>
            </a:pPr>
            <a:r>
              <a:rPr sz="3200" b="1">
                <a:solidFill>
                  <a:srgbClr val="EDECE4"/>
                </a:solidFill>
                <a:latin typeface="Calibri"/>
              </a:rPr>
              <a:t>$980M</a:t>
            </a:r>
          </a:p>
        </p:txBody>
      </p:sp>
      <p:sp>
        <p:nvSpPr>
          <p:cNvPr id="20" name="TextBox 19"/>
          <p:cNvSpPr txBox="1"/>
          <p:nvPr/>
        </p:nvSpPr>
        <p:spPr>
          <a:xfrm>
            <a:off x="731520" y="3794760"/>
            <a:ext cx="3154680" cy="1737360"/>
          </a:xfrm>
          <a:prstGeom prst="rect">
            <a:avLst/>
          </a:prstGeom>
          <a:noFill/>
        </p:spPr>
        <p:txBody>
          <a:bodyPr wrap="square" anchor="t"/>
          <a:lstStyle/>
          <a:p>
            <a:pPr algn="l">
              <a:spcBef>
                <a:spcPts val="0"/>
              </a:spcBef>
              <a:spcAft>
                <a:spcPts val="0"/>
              </a:spcAft>
            </a:pPr>
            <a:r>
              <a:rPr sz="1400" b="0">
                <a:solidFill>
                  <a:srgbClr val="A8ACB8"/>
                </a:solidFill>
                <a:latin typeface="Calibri"/>
              </a:rPr>
              <a:t>Confidential-session software + facilitator agents. Not the $9.4B AI-mediation headline.</a:t>
            </a:r>
          </a:p>
        </p:txBody>
      </p:sp>
      <p:sp>
        <p:nvSpPr>
          <p:cNvPr id="21" name="Rounded Rectangle 20"/>
          <p:cNvSpPr/>
          <p:nvPr/>
        </p:nvSpPr>
        <p:spPr>
          <a:xfrm>
            <a:off x="4343400" y="2103120"/>
            <a:ext cx="361188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2331720"/>
            <a:ext cx="3154680" cy="274320"/>
          </a:xfrm>
          <a:prstGeom prst="rect">
            <a:avLst/>
          </a:prstGeom>
          <a:noFill/>
        </p:spPr>
        <p:txBody>
          <a:bodyPr wrap="square" anchor="t"/>
          <a:lstStyle/>
          <a:p>
            <a:pPr algn="l">
              <a:spcBef>
                <a:spcPts val="0"/>
              </a:spcBef>
              <a:spcAft>
                <a:spcPts val="0"/>
              </a:spcAft>
            </a:pPr>
            <a:r>
              <a:rPr sz="1200" b="1">
                <a:solidFill>
                  <a:srgbClr val="5AAAB0"/>
                </a:solidFill>
                <a:latin typeface="Calibri"/>
              </a:rPr>
              <a:t>SAM</a:t>
            </a:r>
          </a:p>
        </p:txBody>
      </p:sp>
      <p:sp>
        <p:nvSpPr>
          <p:cNvPr id="23" name="TextBox 22"/>
          <p:cNvSpPr txBox="1"/>
          <p:nvPr/>
        </p:nvSpPr>
        <p:spPr>
          <a:xfrm>
            <a:off x="4572000" y="2788920"/>
            <a:ext cx="3154680" cy="822960"/>
          </a:xfrm>
          <a:prstGeom prst="rect">
            <a:avLst/>
          </a:prstGeom>
          <a:noFill/>
        </p:spPr>
        <p:txBody>
          <a:bodyPr wrap="square" anchor="t"/>
          <a:lstStyle/>
          <a:p>
            <a:pPr algn="l">
              <a:spcBef>
                <a:spcPts val="0"/>
              </a:spcBef>
              <a:spcAft>
                <a:spcPts val="0"/>
              </a:spcAft>
            </a:pPr>
            <a:r>
              <a:rPr sz="3200" b="1">
                <a:solidFill>
                  <a:srgbClr val="EDECE4"/>
                </a:solidFill>
                <a:latin typeface="Calibri"/>
              </a:rPr>
              <a:t>$146M</a:t>
            </a:r>
          </a:p>
        </p:txBody>
      </p:sp>
      <p:sp>
        <p:nvSpPr>
          <p:cNvPr id="24" name="TextBox 23"/>
          <p:cNvSpPr txBox="1"/>
          <p:nvPr/>
        </p:nvSpPr>
        <p:spPr>
          <a:xfrm>
            <a:off x="4572000" y="3794760"/>
            <a:ext cx="3154680" cy="1737360"/>
          </a:xfrm>
          <a:prstGeom prst="rect">
            <a:avLst/>
          </a:prstGeom>
          <a:noFill/>
        </p:spPr>
        <p:txBody>
          <a:bodyPr wrap="square" anchor="t"/>
          <a:lstStyle/>
          <a:p>
            <a:pPr algn="l">
              <a:spcBef>
                <a:spcPts val="0"/>
              </a:spcBef>
              <a:spcAft>
                <a:spcPts val="0"/>
              </a:spcAft>
            </a:pPr>
            <a:r>
              <a:rPr sz="1400" b="0">
                <a:solidFill>
                  <a:srgbClr val="A8ACB8"/>
                </a:solidFill>
                <a:latin typeface="Calibri"/>
              </a:rPr>
              <a:t>≈2,800 evaluable hosts × $52k blended ACV: ADR offices, AmLaw settlement, F1000 ombuds, selected IOs.</a:t>
            </a:r>
          </a:p>
        </p:txBody>
      </p:sp>
      <p:sp>
        <p:nvSpPr>
          <p:cNvPr id="25" name="Rounded Rectangle 24"/>
          <p:cNvSpPr/>
          <p:nvPr/>
        </p:nvSpPr>
        <p:spPr>
          <a:xfrm>
            <a:off x="8183880" y="2103120"/>
            <a:ext cx="361188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2331720"/>
            <a:ext cx="3154680" cy="274320"/>
          </a:xfrm>
          <a:prstGeom prst="rect">
            <a:avLst/>
          </a:prstGeom>
          <a:noFill/>
        </p:spPr>
        <p:txBody>
          <a:bodyPr wrap="square" anchor="t"/>
          <a:lstStyle/>
          <a:p>
            <a:pPr algn="l">
              <a:spcBef>
                <a:spcPts val="0"/>
              </a:spcBef>
              <a:spcAft>
                <a:spcPts val="0"/>
              </a:spcAft>
            </a:pPr>
            <a:r>
              <a:rPr sz="1200" b="1">
                <a:solidFill>
                  <a:srgbClr val="5AAAB0"/>
                </a:solidFill>
                <a:latin typeface="Calibri"/>
              </a:rPr>
              <a:t>SOM FY31</a:t>
            </a:r>
          </a:p>
        </p:txBody>
      </p:sp>
      <p:sp>
        <p:nvSpPr>
          <p:cNvPr id="27" name="TextBox 26"/>
          <p:cNvSpPr txBox="1"/>
          <p:nvPr/>
        </p:nvSpPr>
        <p:spPr>
          <a:xfrm>
            <a:off x="8412480" y="2788920"/>
            <a:ext cx="3154680" cy="822960"/>
          </a:xfrm>
          <a:prstGeom prst="rect">
            <a:avLst/>
          </a:prstGeom>
          <a:noFill/>
        </p:spPr>
        <p:txBody>
          <a:bodyPr wrap="square" anchor="t"/>
          <a:lstStyle/>
          <a:p>
            <a:pPr algn="l">
              <a:spcBef>
                <a:spcPts val="0"/>
              </a:spcBef>
              <a:spcAft>
                <a:spcPts val="0"/>
              </a:spcAft>
            </a:pPr>
            <a:r>
              <a:rPr sz="3200" b="1">
                <a:solidFill>
                  <a:srgbClr val="EDECE4"/>
                </a:solidFill>
                <a:latin typeface="Calibri"/>
              </a:rPr>
              <a:t>$14.8M</a:t>
            </a:r>
          </a:p>
        </p:txBody>
      </p:sp>
      <p:sp>
        <p:nvSpPr>
          <p:cNvPr id="28" name="TextBox 27"/>
          <p:cNvSpPr txBox="1"/>
          <p:nvPr/>
        </p:nvSpPr>
        <p:spPr>
          <a:xfrm>
            <a:off x="8412480" y="3794760"/>
            <a:ext cx="3154680" cy="1737360"/>
          </a:xfrm>
          <a:prstGeom prst="rect">
            <a:avLst/>
          </a:prstGeom>
          <a:noFill/>
        </p:spPr>
        <p:txBody>
          <a:bodyPr wrap="square" anchor="t"/>
          <a:lstStyle/>
          <a:p>
            <a:pPr algn="l">
              <a:spcBef>
                <a:spcPts val="0"/>
              </a:spcBef>
              <a:spcAft>
                <a:spcPts val="0"/>
              </a:spcAft>
            </a:pPr>
            <a:r>
              <a:rPr sz="1400" b="0">
                <a:solidFill>
                  <a:srgbClr val="A8ACB8"/>
                </a:solidFill>
                <a:latin typeface="Calibri"/>
              </a:rPr>
              <a:t>220 paying hosts. ~10% of SAM. Distribution through practices, not 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CHAMBER</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12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Four things a Zoom clone cannot copy.</a:t>
            </a:r>
          </a:p>
        </p:txBody>
      </p:sp>
      <p:sp>
        <p:nvSpPr>
          <p:cNvPr id="17" name="Rounded Rectangle 16"/>
          <p:cNvSpPr/>
          <p:nvPr/>
        </p:nvSpPr>
        <p:spPr>
          <a:xfrm>
            <a:off x="502920" y="1783080"/>
            <a:ext cx="5349240" cy="20574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1783080"/>
            <a:ext cx="19050" cy="205740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1984248"/>
            <a:ext cx="48371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01</a:t>
            </a:r>
          </a:p>
        </p:txBody>
      </p:sp>
      <p:sp>
        <p:nvSpPr>
          <p:cNvPr id="20" name="TextBox 19"/>
          <p:cNvSpPr txBox="1"/>
          <p:nvPr/>
        </p:nvSpPr>
        <p:spPr>
          <a:xfrm>
            <a:off x="758952" y="2221992"/>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RAM caucus</a:t>
            </a:r>
          </a:p>
        </p:txBody>
      </p:sp>
      <p:sp>
        <p:nvSpPr>
          <p:cNvPr id="21" name="TextBox 20"/>
          <p:cNvSpPr txBox="1"/>
          <p:nvPr/>
        </p:nvSpPr>
        <p:spPr>
          <a:xfrm>
            <a:off x="758952" y="2587752"/>
            <a:ext cx="4837176" cy="1088136"/>
          </a:xfrm>
          <a:prstGeom prst="rect">
            <a:avLst/>
          </a:prstGeom>
          <a:noFill/>
        </p:spPr>
        <p:txBody>
          <a:bodyPr wrap="square" anchor="t"/>
          <a:lstStyle/>
          <a:p>
            <a:pPr algn="l">
              <a:spcBef>
                <a:spcPts val="0"/>
              </a:spcBef>
              <a:spcAft>
                <a:spcPts val="0"/>
              </a:spcAft>
            </a:pPr>
            <a:r>
              <a:rPr sz="1300" b="0">
                <a:solidFill>
                  <a:srgbClr val="A8ACB8"/>
                </a:solidFill>
                <a:latin typeface="Calibri"/>
              </a:rPr>
              <a:t>Plenary pauses. Quotes do not return. A process fact may.</a:t>
            </a:r>
          </a:p>
        </p:txBody>
      </p:sp>
      <p:sp>
        <p:nvSpPr>
          <p:cNvPr id="22" name="Rounded Rectangle 21"/>
          <p:cNvSpPr/>
          <p:nvPr/>
        </p:nvSpPr>
        <p:spPr>
          <a:xfrm>
            <a:off x="6355080" y="1783080"/>
            <a:ext cx="5349240" cy="20574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1783080"/>
            <a:ext cx="19050" cy="205740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1984248"/>
            <a:ext cx="48371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02</a:t>
            </a:r>
          </a:p>
        </p:txBody>
      </p:sp>
      <p:sp>
        <p:nvSpPr>
          <p:cNvPr id="25" name="TextBox 24"/>
          <p:cNvSpPr txBox="1"/>
          <p:nvPr/>
        </p:nvSpPr>
        <p:spPr>
          <a:xfrm>
            <a:off x="6611112" y="2221992"/>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Process clock</a:t>
            </a:r>
          </a:p>
        </p:txBody>
      </p:sp>
      <p:sp>
        <p:nvSpPr>
          <p:cNvPr id="26" name="TextBox 25"/>
          <p:cNvSpPr txBox="1"/>
          <p:nvPr/>
        </p:nvSpPr>
        <p:spPr>
          <a:xfrm>
            <a:off x="6611112" y="2587752"/>
            <a:ext cx="4837176" cy="1088136"/>
          </a:xfrm>
          <a:prstGeom prst="rect">
            <a:avLst/>
          </a:prstGeom>
          <a:noFill/>
        </p:spPr>
        <p:txBody>
          <a:bodyPr wrap="square" anchor="t"/>
          <a:lstStyle/>
          <a:p>
            <a:pPr algn="l">
              <a:spcBef>
                <a:spcPts val="0"/>
              </a:spcBef>
              <a:spcAft>
                <a:spcPts val="0"/>
              </a:spcAft>
            </a:pPr>
            <a:r>
              <a:rPr sz="1300" b="0">
                <a:solidFill>
                  <a:srgbClr val="A8ACB8"/>
                </a:solidFill>
                <a:latin typeface="Calibri"/>
              </a:rPr>
              <a:t>Everyone sees the budget. Elapsed does not slam the door.</a:t>
            </a:r>
          </a:p>
        </p:txBody>
      </p:sp>
      <p:sp>
        <p:nvSpPr>
          <p:cNvPr id="27" name="Rounded Rectangle 26"/>
          <p:cNvSpPr/>
          <p:nvPr/>
        </p:nvSpPr>
        <p:spPr>
          <a:xfrm>
            <a:off x="502920" y="4069080"/>
            <a:ext cx="5349240" cy="20574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4069080"/>
            <a:ext cx="19050" cy="205740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4270248"/>
            <a:ext cx="48371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03</a:t>
            </a:r>
          </a:p>
        </p:txBody>
      </p:sp>
      <p:sp>
        <p:nvSpPr>
          <p:cNvPr id="30" name="TextBox 29"/>
          <p:cNvSpPr txBox="1"/>
          <p:nvPr/>
        </p:nvSpPr>
        <p:spPr>
          <a:xfrm>
            <a:off x="758952" y="4507992"/>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Mesh voice</a:t>
            </a:r>
          </a:p>
        </p:txBody>
      </p:sp>
      <p:sp>
        <p:nvSpPr>
          <p:cNvPr id="31" name="TextBox 30"/>
          <p:cNvSpPr txBox="1"/>
          <p:nvPr/>
        </p:nvSpPr>
        <p:spPr>
          <a:xfrm>
            <a:off x="758952" y="4873752"/>
            <a:ext cx="4837176" cy="1088136"/>
          </a:xfrm>
          <a:prstGeom prst="rect">
            <a:avLst/>
          </a:prstGeom>
          <a:noFill/>
        </p:spPr>
        <p:txBody>
          <a:bodyPr wrap="square" anchor="t"/>
          <a:lstStyle/>
          <a:p>
            <a:pPr algn="l">
              <a:spcBef>
                <a:spcPts val="0"/>
              </a:spcBef>
              <a:spcAft>
                <a:spcPts val="0"/>
              </a:spcAft>
            </a:pPr>
            <a:r>
              <a:rPr sz="1300" b="0">
                <a:solidFill>
                  <a:srgbClr val="A8ACB8"/>
                </a:solidFill>
                <a:latin typeface="Calibri"/>
              </a:rPr>
              <a:t>Browser to browser. Avelis does not hear it. No SFU.</a:t>
            </a:r>
          </a:p>
        </p:txBody>
      </p:sp>
      <p:sp>
        <p:nvSpPr>
          <p:cNvPr id="32" name="Rounded Rectangle 31"/>
          <p:cNvSpPr/>
          <p:nvPr/>
        </p:nvSpPr>
        <p:spPr>
          <a:xfrm>
            <a:off x="6355080" y="4069080"/>
            <a:ext cx="5349240" cy="20574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55080" y="4069080"/>
            <a:ext cx="19050" cy="205740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4270248"/>
            <a:ext cx="4837176" cy="219456"/>
          </a:xfrm>
          <a:prstGeom prst="rect">
            <a:avLst/>
          </a:prstGeom>
          <a:noFill/>
        </p:spPr>
        <p:txBody>
          <a:bodyPr wrap="square" anchor="t"/>
          <a:lstStyle/>
          <a:p>
            <a:pPr algn="l">
              <a:spcBef>
                <a:spcPts val="0"/>
              </a:spcBef>
              <a:spcAft>
                <a:spcPts val="0"/>
              </a:spcAft>
            </a:pPr>
            <a:r>
              <a:rPr sz="1000" b="1">
                <a:solidFill>
                  <a:srgbClr val="5AAAB0"/>
                </a:solidFill>
                <a:latin typeface="Calibri"/>
              </a:rPr>
              <a:t>04</a:t>
            </a:r>
          </a:p>
        </p:txBody>
      </p:sp>
      <p:sp>
        <p:nvSpPr>
          <p:cNvPr id="35" name="TextBox 34"/>
          <p:cNvSpPr txBox="1"/>
          <p:nvPr/>
        </p:nvSpPr>
        <p:spPr>
          <a:xfrm>
            <a:off x="6611112" y="4507992"/>
            <a:ext cx="4837176" cy="347472"/>
          </a:xfrm>
          <a:prstGeom prst="rect">
            <a:avLst/>
          </a:prstGeom>
          <a:noFill/>
        </p:spPr>
        <p:txBody>
          <a:bodyPr wrap="square" anchor="t"/>
          <a:lstStyle/>
          <a:p>
            <a:pPr algn="l">
              <a:spcBef>
                <a:spcPts val="0"/>
              </a:spcBef>
              <a:spcAft>
                <a:spcPts val="0"/>
              </a:spcAft>
            </a:pPr>
            <a:r>
              <a:rPr sz="1600" b="1">
                <a:solidFill>
                  <a:srgbClr val="EDECE4"/>
                </a:solidFill>
                <a:latin typeface="Calibri"/>
              </a:rPr>
              <a:t>Destruction receipt</a:t>
            </a:r>
          </a:p>
        </p:txBody>
      </p:sp>
      <p:sp>
        <p:nvSpPr>
          <p:cNvPr id="36" name="TextBox 35"/>
          <p:cNvSpPr txBox="1"/>
          <p:nvPr/>
        </p:nvSpPr>
        <p:spPr>
          <a:xfrm>
            <a:off x="6611112" y="4873752"/>
            <a:ext cx="4837176" cy="1088136"/>
          </a:xfrm>
          <a:prstGeom prst="rect">
            <a:avLst/>
          </a:prstGeom>
          <a:noFill/>
        </p:spPr>
        <p:txBody>
          <a:bodyPr wrap="square" anchor="t"/>
          <a:lstStyle/>
          <a:p>
            <a:pPr algn="l">
              <a:spcBef>
                <a:spcPts val="0"/>
              </a:spcBef>
              <a:spcAft>
                <a:spcPts val="0"/>
              </a:spcAft>
            </a:pPr>
            <a:r>
              <a:rPr sz="1300" b="0">
                <a:solidFill>
                  <a:srgbClr val="A8ACB8"/>
                </a:solidFill>
                <a:latin typeface="Calibri"/>
              </a:rPr>
              <a:t>Hash-chained proof of process. Not a SNARK. Not a transcript.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FOUNDER</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13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Tyler Brasseaux</a:t>
            </a:r>
          </a:p>
        </p:txBody>
      </p:sp>
      <p:sp>
        <p:nvSpPr>
          <p:cNvPr id="17" name="TextBox 16"/>
          <p:cNvSpPr txBox="1"/>
          <p:nvPr/>
        </p:nvSpPr>
        <p:spPr>
          <a:xfrm>
            <a:off x="502920" y="2011680"/>
            <a:ext cx="6766560" cy="1188720"/>
          </a:xfrm>
          <a:prstGeom prst="rect">
            <a:avLst/>
          </a:prstGeom>
          <a:noFill/>
        </p:spPr>
        <p:txBody>
          <a:bodyPr wrap="square" anchor="t"/>
          <a:lstStyle/>
          <a:p>
            <a:pPr algn="l">
              <a:spcBef>
                <a:spcPts val="0"/>
              </a:spcBef>
              <a:spcAft>
                <a:spcPts val="0"/>
              </a:spcAft>
            </a:pPr>
            <a:r>
              <a:rPr sz="1800" b="0">
                <a:solidFill>
                  <a:srgbClr val="A8ACB8"/>
                </a:solidFill>
                <a:latin typeface="Calibri"/>
              </a:rPr>
              <a:t>Founder &amp; systems architect. Independent engineer. He builds operational software for conversations that must not become a record.</a:t>
            </a:r>
          </a:p>
        </p:txBody>
      </p:sp>
      <p:sp>
        <p:nvSpPr>
          <p:cNvPr id="18" name="TextBox 17"/>
          <p:cNvSpPr txBox="1"/>
          <p:nvPr/>
        </p:nvSpPr>
        <p:spPr>
          <a:xfrm>
            <a:off x="502920" y="3246120"/>
            <a:ext cx="6766560" cy="2194560"/>
          </a:xfrm>
          <a:prstGeom prst="rect">
            <a:avLst/>
          </a:prstGeom>
          <a:noFill/>
        </p:spPr>
        <p:txBody>
          <a:bodyPr wrap="square" anchor="t"/>
          <a:lstStyle/>
          <a:p>
            <a:pPr algn="l">
              <a:spcBef>
                <a:spcPts val="0"/>
              </a:spcBef>
              <a:spcAft>
                <a:spcPts val="0"/>
              </a:spcAft>
            </a:pPr>
            <a:r>
              <a:rPr sz="1500" b="0">
                <a:solidFill>
                  <a:srgbClr val="A8ACB8"/>
                </a:solidFill>
                <a:latin typeface="Calibri"/>
              </a:rPr>
              <a:t>Solo is the design: one object (the session), a written constitution, tests that refuse a transcript path. 2026 programs (YC, Speedrun, Techstars, AI Grant) that still want a consumer loop are the wrong programs. Apply as session infrastructure for talks that must not become a file.</a:t>
            </a:r>
          </a:p>
        </p:txBody>
      </p:sp>
      <p:sp>
        <p:nvSpPr>
          <p:cNvPr id="19" name="Rounded Rectangle 18"/>
          <p:cNvSpPr/>
          <p:nvPr/>
        </p:nvSpPr>
        <p:spPr>
          <a:xfrm>
            <a:off x="7589520" y="2011680"/>
            <a:ext cx="4114800" cy="384048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2240280"/>
            <a:ext cx="3657600" cy="274320"/>
          </a:xfrm>
          <a:prstGeom prst="rect">
            <a:avLst/>
          </a:prstGeom>
          <a:noFill/>
        </p:spPr>
        <p:txBody>
          <a:bodyPr wrap="square" anchor="t"/>
          <a:lstStyle/>
          <a:p>
            <a:pPr algn="l">
              <a:spcBef>
                <a:spcPts val="0"/>
              </a:spcBef>
              <a:spcAft>
                <a:spcPts val="0"/>
              </a:spcAft>
            </a:pPr>
            <a:r>
              <a:rPr sz="1100" b="1">
                <a:solidFill>
                  <a:srgbClr val="5AAAB0"/>
                </a:solidFill>
                <a:latin typeface="Calibri"/>
              </a:rPr>
              <a:t>HOW TO INTRODUCE HIM</a:t>
            </a:r>
          </a:p>
        </p:txBody>
      </p:sp>
      <p:sp>
        <p:nvSpPr>
          <p:cNvPr id="21" name="TextBox 20"/>
          <p:cNvSpPr txBox="1"/>
          <p:nvPr/>
        </p:nvSpPr>
        <p:spPr>
          <a:xfrm>
            <a:off x="7818120" y="2697480"/>
            <a:ext cx="3657600" cy="1280160"/>
          </a:xfrm>
          <a:prstGeom prst="rect">
            <a:avLst/>
          </a:prstGeom>
          <a:noFill/>
        </p:spPr>
        <p:txBody>
          <a:bodyPr wrap="square" anchor="t"/>
          <a:lstStyle/>
          <a:p>
            <a:pPr algn="l">
              <a:spcBef>
                <a:spcPts val="0"/>
              </a:spcBef>
              <a:spcAft>
                <a:spcPts val="0"/>
              </a:spcAft>
            </a:pPr>
            <a:r>
              <a:rPr sz="1500" b="0">
                <a:solidFill>
                  <a:srgbClr val="EDECE4"/>
                </a:solidFill>
                <a:latin typeface="Calibri"/>
              </a:rPr>
              <a:t>Use: independent systems architect; founder of Avelis.</a:t>
            </a:r>
          </a:p>
        </p:txBody>
      </p:sp>
      <p:sp>
        <p:nvSpPr>
          <p:cNvPr id="22" name="TextBox 21"/>
          <p:cNvSpPr txBox="1"/>
          <p:nvPr/>
        </p:nvSpPr>
        <p:spPr>
          <a:xfrm>
            <a:off x="7818120" y="4114800"/>
            <a:ext cx="3657600" cy="1371600"/>
          </a:xfrm>
          <a:prstGeom prst="rect">
            <a:avLst/>
          </a:prstGeom>
          <a:noFill/>
        </p:spPr>
        <p:txBody>
          <a:bodyPr wrap="square" anchor="t"/>
          <a:lstStyle/>
          <a:p>
            <a:pPr algn="l">
              <a:spcBef>
                <a:spcPts val="0"/>
              </a:spcBef>
              <a:spcAft>
                <a:spcPts val="0"/>
              </a:spcAft>
            </a:pPr>
            <a:r>
              <a:rPr sz="1500" b="0">
                <a:solidFill>
                  <a:srgbClr val="A8ACB8"/>
                </a:solidFill>
                <a:latin typeface="Calibri"/>
              </a:rPr>
              <a:t>Avoid: self-made, privacy influencer, peacebuilder, therapist, consumer founder.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THE ASK</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14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The ask: $2.0M seed to reach $1M ARR without breaking the constitution.</a:t>
            </a:r>
          </a:p>
        </p:txBody>
      </p:sp>
      <p:graphicFrame>
        <p:nvGraphicFramePr>
          <p:cNvPr id="17" name="Chart 16"/>
          <p:cNvGraphicFramePr>
            <a:graphicFrameLocks noGrp="1"/>
          </p:cNvGraphicFramePr>
          <p:nvPr/>
        </p:nvGraphicFramePr>
        <p:xfrm>
          <a:off x="365760" y="1965960"/>
          <a:ext cx="4937760" cy="4206240"/>
        </p:xfrm>
        <a:graphic>
          <a:graphicData uri="http://schemas.openxmlformats.org/drawingml/2006/chart">
            <c:chart xmlns:c="http://schemas.openxmlformats.org/drawingml/2006/chart" r:id="rId2"/>
          </a:graphicData>
        </a:graphic>
      </p:graphicFrame>
      <p:sp>
        <p:nvSpPr>
          <p:cNvPr id="18" name="Rounded Rectangle 17"/>
          <p:cNvSpPr/>
          <p:nvPr/>
        </p:nvSpPr>
        <p:spPr>
          <a:xfrm>
            <a:off x="5394960" y="2057400"/>
            <a:ext cx="6263640" cy="9601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2313432"/>
            <a:ext cx="1188720" cy="457200"/>
          </a:xfrm>
          <a:prstGeom prst="rect">
            <a:avLst/>
          </a:prstGeom>
          <a:noFill/>
        </p:spPr>
        <p:txBody>
          <a:bodyPr wrap="square" anchor="t"/>
          <a:lstStyle/>
          <a:p>
            <a:pPr algn="l">
              <a:spcBef>
                <a:spcPts val="0"/>
              </a:spcBef>
              <a:spcAft>
                <a:spcPts val="0"/>
              </a:spcAft>
            </a:pPr>
            <a:r>
              <a:rPr sz="2000" b="1">
                <a:solidFill>
                  <a:srgbClr val="5AAAB0"/>
                </a:solidFill>
                <a:latin typeface="Consolas"/>
              </a:rPr>
              <a:t>45%</a:t>
            </a:r>
          </a:p>
        </p:txBody>
      </p:sp>
      <p:sp>
        <p:nvSpPr>
          <p:cNvPr id="20" name="TextBox 19"/>
          <p:cNvSpPr txBox="1"/>
          <p:nvPr/>
        </p:nvSpPr>
        <p:spPr>
          <a:xfrm>
            <a:off x="6903720" y="2221992"/>
            <a:ext cx="4480560" cy="320040"/>
          </a:xfrm>
          <a:prstGeom prst="rect">
            <a:avLst/>
          </a:prstGeom>
          <a:noFill/>
        </p:spPr>
        <p:txBody>
          <a:bodyPr wrap="square" anchor="t"/>
          <a:lstStyle/>
          <a:p>
            <a:pPr algn="l">
              <a:spcBef>
                <a:spcPts val="0"/>
              </a:spcBef>
              <a:spcAft>
                <a:spcPts val="0"/>
              </a:spcAft>
            </a:pPr>
            <a:r>
              <a:rPr sz="1500" b="1">
                <a:solidFill>
                  <a:srgbClr val="EDECE4"/>
                </a:solidFill>
                <a:latin typeface="Calibri"/>
              </a:rPr>
              <a:t>Engineering</a:t>
            </a:r>
          </a:p>
        </p:txBody>
      </p:sp>
      <p:sp>
        <p:nvSpPr>
          <p:cNvPr id="21" name="TextBox 20"/>
          <p:cNvSpPr txBox="1"/>
          <p:nvPr/>
        </p:nvSpPr>
        <p:spPr>
          <a:xfrm>
            <a:off x="6903720" y="2532888"/>
            <a:ext cx="4480560" cy="365760"/>
          </a:xfrm>
          <a:prstGeom prst="rect">
            <a:avLst/>
          </a:prstGeom>
          <a:noFill/>
        </p:spPr>
        <p:txBody>
          <a:bodyPr wrap="square" anchor="t"/>
          <a:lstStyle/>
          <a:p>
            <a:pPr algn="l">
              <a:spcBef>
                <a:spcPts val="0"/>
              </a:spcBef>
              <a:spcAft>
                <a:spcPts val="0"/>
              </a:spcAft>
            </a:pPr>
            <a:r>
              <a:rPr sz="1300" b="0">
                <a:solidFill>
                  <a:srgbClr val="A8ACB8"/>
                </a:solidFill>
                <a:latin typeface="Calibri"/>
              </a:rPr>
              <a:t>Two systems engineers; room, residency, test hardening.</a:t>
            </a:r>
          </a:p>
        </p:txBody>
      </p:sp>
      <p:sp>
        <p:nvSpPr>
          <p:cNvPr id="22" name="Rounded Rectangle 21"/>
          <p:cNvSpPr/>
          <p:nvPr/>
        </p:nvSpPr>
        <p:spPr>
          <a:xfrm>
            <a:off x="5394960" y="3108960"/>
            <a:ext cx="6263640" cy="9601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60" y="3364992"/>
            <a:ext cx="1188720" cy="457200"/>
          </a:xfrm>
          <a:prstGeom prst="rect">
            <a:avLst/>
          </a:prstGeom>
          <a:noFill/>
        </p:spPr>
        <p:txBody>
          <a:bodyPr wrap="square" anchor="t"/>
          <a:lstStyle/>
          <a:p>
            <a:pPr algn="l">
              <a:spcBef>
                <a:spcPts val="0"/>
              </a:spcBef>
              <a:spcAft>
                <a:spcPts val="0"/>
              </a:spcAft>
            </a:pPr>
            <a:r>
              <a:rPr sz="2000" b="1">
                <a:solidFill>
                  <a:srgbClr val="5AAAB0"/>
                </a:solidFill>
                <a:latin typeface="Consolas"/>
              </a:rPr>
              <a:t>25%</a:t>
            </a:r>
          </a:p>
        </p:txBody>
      </p:sp>
      <p:sp>
        <p:nvSpPr>
          <p:cNvPr id="24" name="TextBox 23"/>
          <p:cNvSpPr txBox="1"/>
          <p:nvPr/>
        </p:nvSpPr>
        <p:spPr>
          <a:xfrm>
            <a:off x="6903720" y="3273552"/>
            <a:ext cx="4480560" cy="320040"/>
          </a:xfrm>
          <a:prstGeom prst="rect">
            <a:avLst/>
          </a:prstGeom>
          <a:noFill/>
        </p:spPr>
        <p:txBody>
          <a:bodyPr wrap="square" anchor="t"/>
          <a:lstStyle/>
          <a:p>
            <a:pPr algn="l">
              <a:spcBef>
                <a:spcPts val="0"/>
              </a:spcBef>
              <a:spcAft>
                <a:spcPts val="0"/>
              </a:spcAft>
            </a:pPr>
            <a:r>
              <a:rPr sz="1500" b="1">
                <a:solidFill>
                  <a:srgbClr val="EDECE4"/>
                </a:solidFill>
                <a:latin typeface="Calibri"/>
              </a:rPr>
              <a:t>Institutional sales</a:t>
            </a:r>
          </a:p>
        </p:txBody>
      </p:sp>
      <p:sp>
        <p:nvSpPr>
          <p:cNvPr id="25" name="TextBox 24"/>
          <p:cNvSpPr txBox="1"/>
          <p:nvPr/>
        </p:nvSpPr>
        <p:spPr>
          <a:xfrm>
            <a:off x="6903720" y="3584448"/>
            <a:ext cx="4480560" cy="365760"/>
          </a:xfrm>
          <a:prstGeom prst="rect">
            <a:avLst/>
          </a:prstGeom>
          <a:noFill/>
        </p:spPr>
        <p:txBody>
          <a:bodyPr wrap="square" anchor="t"/>
          <a:lstStyle/>
          <a:p>
            <a:pPr algn="l">
              <a:spcBef>
                <a:spcPts val="0"/>
              </a:spcBef>
              <a:spcAft>
                <a:spcPts val="0"/>
              </a:spcAft>
            </a:pPr>
            <a:r>
              <a:rPr sz="1300" b="0">
                <a:solidFill>
                  <a:srgbClr val="A8ACB8"/>
                </a:solidFill>
                <a:latin typeface="Calibri"/>
              </a:rPr>
              <a:t>One AE, evaluation travel, design-partner ops.</a:t>
            </a:r>
          </a:p>
        </p:txBody>
      </p:sp>
      <p:sp>
        <p:nvSpPr>
          <p:cNvPr id="26" name="Rounded Rectangle 25"/>
          <p:cNvSpPr/>
          <p:nvPr/>
        </p:nvSpPr>
        <p:spPr>
          <a:xfrm>
            <a:off x="5394960" y="4160520"/>
            <a:ext cx="6263640" cy="9601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23560" y="4416552"/>
            <a:ext cx="1188720" cy="457200"/>
          </a:xfrm>
          <a:prstGeom prst="rect">
            <a:avLst/>
          </a:prstGeom>
          <a:noFill/>
        </p:spPr>
        <p:txBody>
          <a:bodyPr wrap="square" anchor="t"/>
          <a:lstStyle/>
          <a:p>
            <a:pPr algn="l">
              <a:spcBef>
                <a:spcPts val="0"/>
              </a:spcBef>
              <a:spcAft>
                <a:spcPts val="0"/>
              </a:spcAft>
            </a:pPr>
            <a:r>
              <a:rPr sz="2000" b="1">
                <a:solidFill>
                  <a:srgbClr val="5AAAB0"/>
                </a:solidFill>
                <a:latin typeface="Consolas"/>
              </a:rPr>
              <a:t>15%</a:t>
            </a:r>
          </a:p>
        </p:txBody>
      </p:sp>
      <p:sp>
        <p:nvSpPr>
          <p:cNvPr id="28" name="TextBox 27"/>
          <p:cNvSpPr txBox="1"/>
          <p:nvPr/>
        </p:nvSpPr>
        <p:spPr>
          <a:xfrm>
            <a:off x="6903720" y="4325112"/>
            <a:ext cx="4480560" cy="320040"/>
          </a:xfrm>
          <a:prstGeom prst="rect">
            <a:avLst/>
          </a:prstGeom>
          <a:noFill/>
        </p:spPr>
        <p:txBody>
          <a:bodyPr wrap="square" anchor="t"/>
          <a:lstStyle/>
          <a:p>
            <a:pPr algn="l">
              <a:spcBef>
                <a:spcPts val="0"/>
              </a:spcBef>
              <a:spcAft>
                <a:spcPts val="0"/>
              </a:spcAft>
            </a:pPr>
            <a:r>
              <a:rPr sz="1500" b="1">
                <a:solidFill>
                  <a:srgbClr val="EDECE4"/>
                </a:solidFill>
                <a:latin typeface="Calibri"/>
              </a:rPr>
              <a:t>Legal &amp; compliance</a:t>
            </a:r>
          </a:p>
        </p:txBody>
      </p:sp>
      <p:sp>
        <p:nvSpPr>
          <p:cNvPr id="29" name="TextBox 28"/>
          <p:cNvSpPr txBox="1"/>
          <p:nvPr/>
        </p:nvSpPr>
        <p:spPr>
          <a:xfrm>
            <a:off x="6903720" y="4636008"/>
            <a:ext cx="4480560" cy="365760"/>
          </a:xfrm>
          <a:prstGeom prst="rect">
            <a:avLst/>
          </a:prstGeom>
          <a:noFill/>
        </p:spPr>
        <p:txBody>
          <a:bodyPr wrap="square" anchor="t"/>
          <a:lstStyle/>
          <a:p>
            <a:pPr algn="l">
              <a:spcBef>
                <a:spcPts val="0"/>
              </a:spcBef>
              <a:spcAft>
                <a:spcPts val="0"/>
              </a:spcAft>
            </a:pPr>
            <a:r>
              <a:rPr sz="1300" b="0">
                <a:solidFill>
                  <a:srgbClr val="A8ACB8"/>
                </a:solidFill>
                <a:latin typeface="Calibri"/>
              </a:rPr>
              <a:t>DPA, insurance, counsel — not marketing.</a:t>
            </a:r>
          </a:p>
        </p:txBody>
      </p:sp>
      <p:sp>
        <p:nvSpPr>
          <p:cNvPr id="30" name="Rounded Rectangle 29"/>
          <p:cNvSpPr/>
          <p:nvPr/>
        </p:nvSpPr>
        <p:spPr>
          <a:xfrm>
            <a:off x="5394960" y="5212079"/>
            <a:ext cx="6263640" cy="9601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23560" y="5468111"/>
            <a:ext cx="1188720" cy="457200"/>
          </a:xfrm>
          <a:prstGeom prst="rect">
            <a:avLst/>
          </a:prstGeom>
          <a:noFill/>
        </p:spPr>
        <p:txBody>
          <a:bodyPr wrap="square" anchor="t"/>
          <a:lstStyle/>
          <a:p>
            <a:pPr algn="l">
              <a:spcBef>
                <a:spcPts val="0"/>
              </a:spcBef>
              <a:spcAft>
                <a:spcPts val="0"/>
              </a:spcAft>
            </a:pPr>
            <a:r>
              <a:rPr sz="2000" b="1">
                <a:solidFill>
                  <a:srgbClr val="5AAAB0"/>
                </a:solidFill>
                <a:latin typeface="Consolas"/>
              </a:rPr>
              <a:t>15%</a:t>
            </a:r>
          </a:p>
        </p:txBody>
      </p:sp>
      <p:sp>
        <p:nvSpPr>
          <p:cNvPr id="32" name="TextBox 31"/>
          <p:cNvSpPr txBox="1"/>
          <p:nvPr/>
        </p:nvSpPr>
        <p:spPr>
          <a:xfrm>
            <a:off x="6903720" y="5376671"/>
            <a:ext cx="4480560" cy="320040"/>
          </a:xfrm>
          <a:prstGeom prst="rect">
            <a:avLst/>
          </a:prstGeom>
          <a:noFill/>
        </p:spPr>
        <p:txBody>
          <a:bodyPr wrap="square" anchor="t"/>
          <a:lstStyle/>
          <a:p>
            <a:pPr algn="l">
              <a:spcBef>
                <a:spcPts val="0"/>
              </a:spcBef>
              <a:spcAft>
                <a:spcPts val="0"/>
              </a:spcAft>
            </a:pPr>
            <a:r>
              <a:rPr sz="1500" b="1">
                <a:solidFill>
                  <a:srgbClr val="EDECE4"/>
                </a:solidFill>
                <a:latin typeface="Calibri"/>
              </a:rPr>
              <a:t>Infra &amp; reserve</a:t>
            </a:r>
          </a:p>
        </p:txBody>
      </p:sp>
      <p:sp>
        <p:nvSpPr>
          <p:cNvPr id="33" name="TextBox 32"/>
          <p:cNvSpPr txBox="1"/>
          <p:nvPr/>
        </p:nvSpPr>
        <p:spPr>
          <a:xfrm>
            <a:off x="6903720" y="5687567"/>
            <a:ext cx="4480560" cy="365760"/>
          </a:xfrm>
          <a:prstGeom prst="rect">
            <a:avLst/>
          </a:prstGeom>
          <a:noFill/>
        </p:spPr>
        <p:txBody>
          <a:bodyPr wrap="square" anchor="t"/>
          <a:lstStyle/>
          <a:p>
            <a:pPr algn="l">
              <a:spcBef>
                <a:spcPts val="0"/>
              </a:spcBef>
              <a:spcAft>
                <a:spcPts val="0"/>
              </a:spcAft>
            </a:pPr>
            <a:r>
              <a:rPr sz="1300" b="0">
                <a:solidFill>
                  <a:srgbClr val="A8ACB8"/>
                </a:solidFill>
                <a:latin typeface="Calibri"/>
              </a:rPr>
              <a:t>Isolated room process, keys, 18-month buffer.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INVESTOR  ·  CLOSE</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15 / 15</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1005840"/>
          </a:xfrm>
          <a:prstGeom prst="rect">
            <a:avLst/>
          </a:prstGeom>
          <a:noFill/>
        </p:spPr>
        <p:txBody>
          <a:bodyPr wrap="square" anchor="t"/>
          <a:lstStyle/>
          <a:p>
            <a:pPr algn="l">
              <a:spcBef>
                <a:spcPts val="0"/>
              </a:spcBef>
              <a:spcAft>
                <a:spcPts val="0"/>
              </a:spcAft>
            </a:pPr>
            <a:r>
              <a:rPr sz="2600" b="1">
                <a:solidFill>
                  <a:srgbClr val="EDECE4"/>
                </a:solidFill>
                <a:latin typeface="Calibri"/>
              </a:rPr>
              <a:t>Room messages are delivered live and are not stored by Avelis.</a:t>
            </a:r>
          </a:p>
        </p:txBody>
      </p:sp>
      <p:sp>
        <p:nvSpPr>
          <p:cNvPr id="17" name="TextBox 16"/>
          <p:cNvSpPr txBox="1"/>
          <p:nvPr/>
        </p:nvSpPr>
        <p:spPr>
          <a:xfrm>
            <a:off x="502920" y="1965960"/>
            <a:ext cx="10972800" cy="1097280"/>
          </a:xfrm>
          <a:prstGeom prst="rect">
            <a:avLst/>
          </a:prstGeom>
          <a:noFill/>
        </p:spPr>
        <p:txBody>
          <a:bodyPr wrap="square" anchor="t"/>
          <a:lstStyle/>
          <a:p>
            <a:pPr algn="l">
              <a:spcBef>
                <a:spcPts val="0"/>
              </a:spcBef>
              <a:spcAft>
                <a:spcPts val="0"/>
              </a:spcAft>
            </a:pPr>
            <a:r>
              <a:rPr sz="1800" b="0">
                <a:solidFill>
                  <a:srgbClr val="A8ACB8"/>
                </a:solidFill>
                <a:latin typeface="Calibri"/>
              </a:rPr>
              <a:t>Closing ends room access and destroys the live room. Messages cannot be recovered. Process records and any joint minute are retained until the selected deadline, then destroyed. The destruction receipt remains.</a:t>
            </a:r>
          </a:p>
        </p:txBody>
      </p:sp>
      <p:sp>
        <p:nvSpPr>
          <p:cNvPr id="18" name="Rounded Rectangle 17"/>
          <p:cNvSpPr/>
          <p:nvPr/>
        </p:nvSpPr>
        <p:spPr>
          <a:xfrm>
            <a:off x="502920" y="3291840"/>
            <a:ext cx="11201400" cy="28803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291840"/>
            <a:ext cx="19050" cy="2880360"/>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66160"/>
            <a:ext cx="10424160" cy="274320"/>
          </a:xfrm>
          <a:prstGeom prst="rect">
            <a:avLst/>
          </a:prstGeom>
          <a:noFill/>
        </p:spPr>
        <p:txBody>
          <a:bodyPr wrap="square" anchor="t"/>
          <a:lstStyle/>
          <a:p>
            <a:pPr algn="l">
              <a:spcBef>
                <a:spcPts val="0"/>
              </a:spcBef>
              <a:spcAft>
                <a:spcPts val="0"/>
              </a:spcAft>
            </a:pPr>
            <a:r>
              <a:rPr sz="1100" b="1">
                <a:solidFill>
                  <a:srgbClr val="5AAAB0"/>
                </a:solidFill>
                <a:latin typeface="Calibri"/>
              </a:rPr>
              <a:t>NEXT STEP</a:t>
            </a:r>
          </a:p>
        </p:txBody>
      </p:sp>
      <p:sp>
        <p:nvSpPr>
          <p:cNvPr id="21" name="TextBox 20"/>
          <p:cNvSpPr txBox="1"/>
          <p:nvPr/>
        </p:nvSpPr>
        <p:spPr>
          <a:xfrm>
            <a:off x="868680" y="3931920"/>
            <a:ext cx="10424160" cy="822960"/>
          </a:xfrm>
          <a:prstGeom prst="rect">
            <a:avLst/>
          </a:prstGeom>
          <a:noFill/>
        </p:spPr>
        <p:txBody>
          <a:bodyPr wrap="square" anchor="t"/>
          <a:lstStyle/>
          <a:p>
            <a:pPr algn="l">
              <a:spcBef>
                <a:spcPts val="0"/>
              </a:spcBef>
              <a:spcAft>
                <a:spcPts val="0"/>
              </a:spcAft>
            </a:pPr>
            <a:r>
              <a:rPr sz="2200" b="1">
                <a:solidFill>
                  <a:srgbClr val="EDECE4"/>
                </a:solidFill>
                <a:latin typeface="Calibri"/>
              </a:rPr>
              <a:t>Tyler Brasseaux  ·  Founder &amp; systems architect</a:t>
            </a:r>
          </a:p>
        </p:txBody>
      </p:sp>
      <p:sp>
        <p:nvSpPr>
          <p:cNvPr id="22" name="TextBox 21"/>
          <p:cNvSpPr txBox="1"/>
          <p:nvPr/>
        </p:nvSpPr>
        <p:spPr>
          <a:xfrm>
            <a:off x="868680" y="4754880"/>
            <a:ext cx="10424160" cy="822960"/>
          </a:xfrm>
          <a:prstGeom prst="rect">
            <a:avLst/>
          </a:prstGeom>
          <a:noFill/>
        </p:spPr>
        <p:txBody>
          <a:bodyPr wrap="square" anchor="t"/>
          <a:lstStyle/>
          <a:p>
            <a:pPr algn="l">
              <a:spcBef>
                <a:spcPts val="0"/>
              </a:spcBef>
              <a:spcAft>
                <a:spcPts val="0"/>
              </a:spcAft>
            </a:pPr>
            <a:r>
              <a:rPr sz="1600" b="0">
                <a:solidFill>
                  <a:srgbClr val="A8ACB8"/>
                </a:solidFill>
                <a:latin typeface="Calibri"/>
              </a:rPr>
              <a:t>Institutional evaluation. DPA packet. A design-partner session on their matter type — not a consumer waitlist.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