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billions</c:v>
                </c:pt>
              </c:strCache>
            </c:strRef>
          </c:tx>
          <c:spPr>
            <a:solidFill>
              <a:srgbClr val="5AAAB0"/>
            </a:solidFill>
            <a:ln>
              <a:noFill/>
            </a:ln>
          </c:spPr>
          <c:dPt>
            <c:idx val="0"/>
            <c:spPr>
              <a:solidFill>
                <a:srgbClr val="5AAAB0"/>
              </a:solidFill>
              <a:ln>
                <a:noFill/>
              </a:ln>
            </c:spPr>
          </c:dPt>
          <c:dPt>
            <c:idx val="1"/>
            <c:spPr>
              <a:solidFill>
                <a:srgbClr val="8FC9CD"/>
              </a:solidFill>
              <a:ln>
                <a:noFill/>
              </a:ln>
            </c:spPr>
          </c:dPt>
          <c:dPt>
            <c:idx val="2"/>
            <c:spPr>
              <a:solidFill>
                <a:srgbClr val="3D7A80"/>
              </a:solidFill>
              <a:ln>
                <a:noFill/>
              </a:ln>
            </c:spPr>
          </c:dPt>
          <c:dPt>
            <c:idx val="3"/>
            <c:spPr>
              <a:solidFill>
                <a:srgbClr val="2F5E63"/>
              </a:solidFill>
              <a:ln>
                <a:noFill/>
              </a:ln>
            </c:spPr>
          </c:dPt>
          <c:dPt>
            <c:idx val="4"/>
            <c:spPr>
              <a:solidFill>
                <a:srgbClr val="A8ACB8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ODR 2026</c:v>
                </c:pt>
                <c:pt idx="1">
                  <c:v>AI med 2025</c:v>
                </c:pt>
                <c:pt idx="2">
                  <c:v>AI med 2034</c:v>
                </c:pt>
                <c:pt idx="3">
                  <c:v>NA workplace 2026</c:v>
                </c:pt>
                <c:pt idx="4">
                  <c:v>Legal AI 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2.45</c:v>
                </c:pt>
                <c:pt idx="1">
                  <c:v>1.8</c:v>
                </c:pt>
                <c:pt idx="2">
                  <c:v>9.4</c:v>
                </c:pt>
                <c:pt idx="3">
                  <c:v>3.96</c:v>
                </c:pt>
                <c:pt idx="4">
                  <c:v>3.9</c:v>
                </c:pt>
              </c:numCache>
            </c:numRef>
          </c:val>
        </c:ser>
        <c:dLbls>
          <c:numFmt formatCode="&quot;$&quot;#,##0.0" sourceLinked="0"/>
          <c:txPr>
            <a:bodyPr/>
            <a:lstStyle/>
            <a:p>
              <a:pPr>
                <a:defRPr sz="1000" b="1">
                  <a:solidFill>
                    <a:srgbClr val="EDECE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/>
        <c:delete val="0"/>
        <c:axPos val="l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&quot;$&quot;#,##0.0" sourceLinked="0"/>
        <c:majorTickMark val="none"/>
        <c:minorTickMark val="none"/>
        <c:tickLblPos val="nextTo"/>
        <c:crossAx val="-2068027336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8575">
              <a:solidFill>
                <a:srgbClr val="787C88"/>
              </a:solidFill>
            </a:ln>
          </c:spPr>
          <c:marker>
            <c:symbol val="circle"/>
            <c:size val="7"/>
            <c:spPr>
              <a:solidFill>
                <a:srgbClr val="787C88"/>
              </a:solidFill>
              <a:ln>
                <a:solidFill>
                  <a:srgbClr val="787C8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0.52</c:v>
                </c:pt>
                <c:pt idx="2">
                  <c:v>1.5</c:v>
                </c:pt>
                <c:pt idx="3">
                  <c:v>3.4</c:v>
                </c:pt>
                <c:pt idx="4">
                  <c:v>6.8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8575">
              <a:solidFill>
                <a:srgbClr val="5AAAB0"/>
              </a:solidFill>
            </a:ln>
          </c:spPr>
          <c:marker>
            <c:symbol val="circle"/>
            <c:size val="7"/>
            <c:spPr>
              <a:solidFill>
                <a:srgbClr val="5AAAB0"/>
              </a:solidFill>
              <a:ln>
                <a:solidFill>
                  <a:srgbClr val="5AAAB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</c:v>
                </c:pt>
                <c:pt idx="1">
                  <c:v>1.15</c:v>
                </c:pt>
                <c:pt idx="2">
                  <c:v>3.4</c:v>
                </c:pt>
                <c:pt idx="3">
                  <c:v>7.4</c:v>
                </c:pt>
                <c:pt idx="4">
                  <c:v>14.8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8575">
              <a:solidFill>
                <a:srgbClr val="8FC9CD"/>
              </a:solidFill>
            </a:ln>
          </c:spPr>
          <c:marker>
            <c:symbol val="circle"/>
            <c:size val="7"/>
            <c:spPr>
              <a:solidFill>
                <a:srgbClr val="8FC9CD"/>
              </a:solidFill>
              <a:ln>
                <a:solidFill>
                  <a:srgbClr val="8FC9C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0.55</c:v>
                </c:pt>
                <c:pt idx="1">
                  <c:v>1.9</c:v>
                </c:pt>
                <c:pt idx="2">
                  <c:v>5.8</c:v>
                </c:pt>
                <c:pt idx="3">
                  <c:v>13.0</c:v>
                </c:pt>
                <c:pt idx="4">
                  <c:v>26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2140495176"/>
        <c:scaling/>
        <c:delete val="0"/>
        <c:axPos val="l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crossAx val="2118791784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legend>
      <c:legendPos val="b"/>
      <c:layout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5AAAB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Seed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8FC9CD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Seed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Legal</c:v>
                </c:pt>
              </c:strCache>
            </c:strRef>
          </c:tx>
          <c:spPr>
            <a:solidFill>
              <a:srgbClr val="3D7A8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Seed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Infra</c:v>
                </c:pt>
              </c:strCache>
            </c:strRef>
          </c:tx>
          <c:spPr>
            <a:solidFill>
              <a:srgbClr val="2F5E63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Seed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>
                  <a:solidFill>
                    <a:srgbClr val="EDECE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/>
        <c:delete val="0"/>
        <c:axPos val="b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&quot;$&quot;#,##0" sourceLinked="0"/>
        <c:majorTickMark val="none"/>
        <c:minorTickMark val="none"/>
        <c:tickLblPos val="nextTo"/>
        <c:crossAx val="-2068027336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legend>
      <c:legendPos val="b"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diligence model. Conservative institutional SaaS. Not a consumer CAGR. All TAM figures are sourced; Avelis revenue is not those markets. Base / bear / bull. Currency USD. Fiscal years ending 31 December. First commercial year FY2027.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 $9.13B 2025 to $14.33B 2032, 6.64% CAGR (360iResearch). Conflict resolution solutions $10B 2024 to $13.8B 2030. Privacy tech ~$12.4B 2026. Secure messaging $12.4B 2025. eDiscovery $19.61B 2025 is the cost of persistence — not a TAM we want to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Method: start from ODR software $2.45B (2026) and NA workplace conflict $3.96B, take the software/confidential-session slice, add facilitator-agent attach. Do not use the $9.4B AI-mediation headline as TAM. $980M working TAM. 2,800 hosts × $52k = $146M SAM. Labeled as construction, not a syndicated 'Avelis TAM'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what would break the model: a consumer relaunch, an undisclosed listener, legal-hold on speech, or a two-year enterprise procurement freeze. Churn is logo-based. NRR 115% from seat expansion inside hosts, not price gouging.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down the rows. FY27 is a partial commercial year. ARR is ending. Revenue lags ARR because of in-year starts. OpEx includes founder compensation at $180k rising with team. Do not present this as audited. It is a planning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Bear: half the logos, slower ACV, FY31 $6.0M ARR, profit delayed to FY30. Bull: one ADR-network distribution deal in FY29, FY31 $22M ARR. Base is the operating plan. Seed is sized to the base, not the bull.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 is evaluation cost: founder time, travel, counsel. High LTV/CAC is a function of high ACV and no ads — it will look too good until you remember volume is tiny. Payback ~14 months FY29.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offer more money in exchange for an undisclosed listener, a consumer room, or legal-hold on speech, decline. The disclosed in-room agent is already the AI. The product laws are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if they question a number. Do not cite Avelis as a market-research firm. Estimates for TAM construction are labeled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01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Five-year financial appendix.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0312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ACB8"/>
                </a:solidFill>
                <a:latin typeface="Calibri"/>
              </a:rPr>
              <a:t>Avelis sells organization seats to hosts of confidential sessions. Parties never pay. The model assumes evaluation-gated sales, 8–10% logo churn, and no advertising-led growth.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31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87C88"/>
                </a:solidFill>
                <a:latin typeface="Calibri"/>
              </a:rPr>
              <a:t>Prepared September 2026  ·  Tyler Brasseaux, founder &amp; systems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CONTEXT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02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External markets we sit beside — we do not equal them.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31520" y="2103120"/>
          <a:ext cx="106984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87C88"/>
                </a:solidFill>
                <a:latin typeface="Calibri"/>
              </a:rPr>
              <a:t>USD billions. Avelis does not equal these headlines. Working TAM is the professional confidential-session + facilitator-agent slice.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TAM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03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Working TAM, SAM, SOM — constructed, not inherited.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1920240"/>
          <a:ext cx="11338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Construction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ODR software (2026)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$2.45B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360iResearch. CAGR 18.2% to $6.84B in 2032.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AI mediation platforms (2025)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$1.8B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Dataintelo headline — includes consumer bots. Not our TAM.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NA workplace conflict (2026)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$3.96B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Coherent. Software is ~39%; services still dominate.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Facilitator-agent attach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~$180M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Professional hosts who will pay for a disclosed in-room agent.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Working TAM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$980M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Confidential session software + facilitator agents. Estimate.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SAM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$146M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2,800 English-speaking institutional hosts × $52k.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SOM FY31 (base)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$14.8M ARR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220 hosts · ~10% of SAM.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04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Base-case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96596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16712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Sales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53288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Founder-led evaluations FY27–28; one AE FY29. No paid acquisition.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6596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16712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Pricing mix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53288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Practice $14.4k · firm $54k · corporate $84k · dedicated $160k yr-1.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63239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264407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Blended ACV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630167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$38k FY27 → $68k FY31 as mix shifts to firms and corporate hosts.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063239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3264407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Logo churn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3630167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8% FY28, 10% thereafter. Long cycle, few logos, high touch.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16052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36168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NRR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72744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115% via additional seats inside a host. No usage-based speech metering.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16052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36168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472744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78% FY27 → 86% FY31. No media archive. Room is memory-only.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25780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545896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Headcount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82472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1 → 3 → 7 → 14 → 24. Engineering-heavy. No growth-marketing org.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5257800"/>
            <a:ext cx="5349240" cy="1005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5458968"/>
            <a:ext cx="4837176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DECE4"/>
                </a:solidFill>
                <a:latin typeface="Calibri"/>
              </a:rPr>
              <a:t>Cash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5824728"/>
            <a:ext cx="483717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ACB8"/>
                </a:solidFill>
                <a:latin typeface="Calibri"/>
              </a:rPr>
              <a:t>Seed $2.0M. First operating profit FY29 in the base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05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Base case P&amp;L (USD millions).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19202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FY28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FY29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FY30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FY31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Paying hosts (EOP)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Blended ACV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$38k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$48k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$56k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$62k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$68k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Ending ARR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3.40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7.40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14.80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6.10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12.00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10.32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OpEx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2.20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4.30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7.50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Operating income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−0.35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−0.33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2.82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Headcount (EOP)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06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Bear, base, bull — ARR.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965960"/>
            <a:ext cx="11155680" cy="411480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1097280" y="2286000"/>
          <a:ext cx="9875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87C88"/>
                </a:solidFill>
                <a:latin typeface="Calibri"/>
              </a:rPr>
              <a:t>Bear — muted   ·   Base — teal   ·   Bull — light teal. Seed is sized to the base, not the bull.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UNIT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07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Unit economics on a host, not a party.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945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231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AAB0"/>
                </a:solidFill>
                <a:latin typeface="Calibri"/>
              </a:rPr>
              <a:t>FY29 CAC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260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DECE4"/>
                </a:solidFill>
                <a:latin typeface="Calibri"/>
              </a:rPr>
              <a:t>$22k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Fully loaded AE + founder 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1945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4231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AAB0"/>
                </a:solidFill>
                <a:latin typeface="Calibri"/>
              </a:rPr>
              <a:t>FY29 ACV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260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DECE4"/>
                </a:solidFill>
                <a:latin typeface="Calibri"/>
              </a:rPr>
              <a:t>$56k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2062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Mix-weighted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1945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4231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AAB0"/>
                </a:solidFill>
                <a:latin typeface="Calibri"/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9260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DECE4"/>
                </a:solidFill>
                <a:latin typeface="Calibri"/>
              </a:rPr>
              <a:t>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062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No stored media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19456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22232C"/>
          </a:solidFill>
          <a:ln w="9525">
            <a:solidFill>
              <a:srgbClr val="3A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4231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AAB0"/>
                </a:solidFill>
                <a:latin typeface="Calibri"/>
              </a:rPr>
              <a:t>Payback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926080"/>
            <a:ext cx="2377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DECE4"/>
                </a:solidFill>
                <a:latin typeface="Calibri"/>
              </a:rPr>
              <a:t>~14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206240"/>
            <a:ext cx="23774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Base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08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Seed $2.0M — eighteen months of constitution-preserving growth.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65760" y="1920240"/>
          <a:ext cx="114300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416052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$900k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Two systems engineers; room isolation; residency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Institutional sales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$500k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One AE, evaluations, design-partner ops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Legal &amp; compliance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$300k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DPA, insurance, counsel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Infra &amp; Groq inference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$300k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Isolated room process, keys, Groq, buffer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Capital that requires an AI judge, a consumer room, or legal-hold on speech is the wrong capital.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FINANCIAL APPENDIX  · 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09 / 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Sources (accessed September 2026).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96596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360iResearch, ODR Software: $2.45B (2026) → $6.84B (2032), CAGR 18.18%.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Dataintelo, AI-Powered Mediation Platforms: $1.8B (2025) → $9.4B (2034), CAGR 20.2% — headline, not Avelis TAM.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Coherent, NA Workplace Conflict Management: $3.96B (2026) → $8.32B (2033), CAGR 11.2%.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Grand View / LAW.co, Global legal AI: $1.45B (2024) → $3.90B (2030), CAGR 17.3%.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AAA: ~500k administered cases/year; AI Arbitrator is document-only construction (McCormack, 2026).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JAMS 2025 Resolution Report: 21,939 new cases; 28,345 active; international new +16%.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ALM / JAMS: nearly 90% of surveyed US lawyers used mediation in the past year (n=108).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Tracxn (Aug 2026): 379 dispute-resolution startups; 87 funded; Theo AI $13.4M seed.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P Market Research, Employment mediation services: $478M (2026) — human services, not software.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A8ACB8"/>
                </a:solidFill>
                <a:latin typeface="Calibri"/>
              </a:rPr>
              <a:t>NCTDR/ICODR 2026 guidance for AI in ODR — disclose the system; keep a human accountable.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