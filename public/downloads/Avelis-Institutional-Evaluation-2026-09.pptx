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for buyers, not investors. Open with the operational need. Tyler is founder and systems architect. Offer a DPA review and a destruction-receipt walkthrough. Do not promise privilege.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Collaboration suites now emit captions and summaries. ER platforms keep case files. Encrypted chat has no process record. Avelis separates live speech from process. Required line: Room messages are delivered live and are not stored by Avelis.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constitution. Visible agent, no stored transcript, no party directory. Retention immutable at open. Identity class immutable at join. If procurement asks for search across sessions or legal hold on speech, the answer is no — that would be a different product.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Facilitators have provisioned work accounts. Participants redeem an invite. They never see Sign up. Delivery emails are wiped after join.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path: create session, set retention, create invite, open, enter live room, table an agenda item, optional minute, close, later verify receipt. Empty states are factual. Keyboard complete.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product threat model. Logging of speech, disk/swap of room state, weak secrets, backup resurrection, mixing security telemetry into the party ledger. Explicit non-claims: legal privilege, host-operator immunity, protection for data still in retention.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90-day evaluation, one organization, limited concurrent sessions. Next step is a work email to request evaluation. Tyler remains the implementation counterpart until a second engineer is hired.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the disclosure. Contact is work email. Do not collect a marketing list story. Tyler Brasseaux, founder and systems architect.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SEPTEMBER 2026</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01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960120"/>
          </a:xfrm>
          <a:prstGeom prst="rect">
            <a:avLst/>
          </a:prstGeom>
          <a:noFill/>
        </p:spPr>
        <p:txBody>
          <a:bodyPr wrap="square" anchor="t"/>
          <a:lstStyle/>
          <a:p>
            <a:pPr algn="l">
              <a:spcBef>
                <a:spcPts val="0"/>
              </a:spcBef>
              <a:spcAft>
                <a:spcPts val="0"/>
              </a:spcAft>
            </a:pPr>
            <a:r>
              <a:rPr sz="3000" b="1">
                <a:solidFill>
                  <a:srgbClr val="EDECE4"/>
                </a:solidFill>
                <a:latin typeface="Calibri"/>
              </a:rPr>
              <a:t>A session you can run without producing a transcript.</a:t>
            </a:r>
          </a:p>
        </p:txBody>
      </p:sp>
      <p:sp>
        <p:nvSpPr>
          <p:cNvPr id="17" name="TextBox 16"/>
          <p:cNvSpPr txBox="1"/>
          <p:nvPr/>
        </p:nvSpPr>
        <p:spPr>
          <a:xfrm>
            <a:off x="502920" y="1874519"/>
            <a:ext cx="10972800" cy="1188720"/>
          </a:xfrm>
          <a:prstGeom prst="rect">
            <a:avLst/>
          </a:prstGeom>
          <a:noFill/>
        </p:spPr>
        <p:txBody>
          <a:bodyPr wrap="square" anchor="t"/>
          <a:lstStyle/>
          <a:p>
            <a:pPr algn="l">
              <a:spcBef>
                <a:spcPts val="0"/>
              </a:spcBef>
              <a:spcAft>
                <a:spcPts val="0"/>
              </a:spcAft>
            </a:pPr>
            <a:r>
              <a:rPr sz="1800" b="0">
                <a:solidFill>
                  <a:srgbClr val="A8ACB8"/>
                </a:solidFill>
                <a:latin typeface="Calibri"/>
              </a:rPr>
              <a:t>Avelis is a facilitator operating system. Shuttle talks, ombuds sessions, settlement conversations — anywhere writing everything down would change what people are willing to say.</a:t>
            </a:r>
          </a:p>
        </p:txBody>
      </p:sp>
      <p:sp>
        <p:nvSpPr>
          <p:cNvPr id="18" name="Rounded Rectangle 17"/>
          <p:cNvSpPr/>
          <p:nvPr/>
        </p:nvSpPr>
        <p:spPr>
          <a:xfrm>
            <a:off x="502920" y="3246120"/>
            <a:ext cx="3566160" cy="28803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447288"/>
            <a:ext cx="3054096" cy="219456"/>
          </a:xfrm>
          <a:prstGeom prst="rect">
            <a:avLst/>
          </a:prstGeom>
          <a:noFill/>
        </p:spPr>
        <p:txBody>
          <a:bodyPr wrap="square" anchor="t"/>
          <a:lstStyle/>
          <a:p>
            <a:pPr algn="l">
              <a:spcBef>
                <a:spcPts val="0"/>
              </a:spcBef>
              <a:spcAft>
                <a:spcPts val="0"/>
              </a:spcAft>
            </a:pPr>
            <a:r>
              <a:rPr sz="1000" b="1">
                <a:solidFill>
                  <a:srgbClr val="5AAAB0"/>
                </a:solidFill>
                <a:latin typeface="Calibri"/>
              </a:rPr>
              <a:t>01</a:t>
            </a:r>
          </a:p>
        </p:txBody>
      </p:sp>
      <p:sp>
        <p:nvSpPr>
          <p:cNvPr id="20" name="TextBox 19"/>
          <p:cNvSpPr txBox="1"/>
          <p:nvPr/>
        </p:nvSpPr>
        <p:spPr>
          <a:xfrm>
            <a:off x="758952" y="3685032"/>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Live room</a:t>
            </a:r>
          </a:p>
        </p:txBody>
      </p:sp>
      <p:sp>
        <p:nvSpPr>
          <p:cNvPr id="21" name="TextBox 20"/>
          <p:cNvSpPr txBox="1"/>
          <p:nvPr/>
        </p:nvSpPr>
        <p:spPr>
          <a:xfrm>
            <a:off x="758952" y="4050792"/>
            <a:ext cx="3054096" cy="1911096"/>
          </a:xfrm>
          <a:prstGeom prst="rect">
            <a:avLst/>
          </a:prstGeom>
          <a:noFill/>
        </p:spPr>
        <p:txBody>
          <a:bodyPr wrap="square" anchor="t"/>
          <a:lstStyle/>
          <a:p>
            <a:pPr algn="l">
              <a:spcBef>
                <a:spcPts val="0"/>
              </a:spcBef>
              <a:spcAft>
                <a:spcPts val="0"/>
              </a:spcAft>
            </a:pPr>
            <a:r>
              <a:rPr sz="1300" b="0">
                <a:solidFill>
                  <a:srgbClr val="A8ACB8"/>
                </a:solidFill>
                <a:latin typeface="Calibri"/>
              </a:rPr>
              <a:t>Delivered and dropped. RAM caucus. Shared clock. Mesh voice Avelis does not hear.</a:t>
            </a:r>
          </a:p>
        </p:txBody>
      </p:sp>
      <p:sp>
        <p:nvSpPr>
          <p:cNvPr id="22" name="Rounded Rectangle 21"/>
          <p:cNvSpPr/>
          <p:nvPr/>
        </p:nvSpPr>
        <p:spPr>
          <a:xfrm>
            <a:off x="4297680" y="3246120"/>
            <a:ext cx="3566160" cy="28803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3447288"/>
            <a:ext cx="3054096" cy="219456"/>
          </a:xfrm>
          <a:prstGeom prst="rect">
            <a:avLst/>
          </a:prstGeom>
          <a:noFill/>
        </p:spPr>
        <p:txBody>
          <a:bodyPr wrap="square" anchor="t"/>
          <a:lstStyle/>
          <a:p>
            <a:pPr algn="l">
              <a:spcBef>
                <a:spcPts val="0"/>
              </a:spcBef>
              <a:spcAft>
                <a:spcPts val="0"/>
              </a:spcAft>
            </a:pPr>
            <a:r>
              <a:rPr sz="1000" b="1">
                <a:solidFill>
                  <a:srgbClr val="5AAAB0"/>
                </a:solidFill>
                <a:latin typeface="Calibri"/>
              </a:rPr>
              <a:t>02</a:t>
            </a:r>
          </a:p>
        </p:txBody>
      </p:sp>
      <p:sp>
        <p:nvSpPr>
          <p:cNvPr id="24" name="TextBox 23"/>
          <p:cNvSpPr txBox="1"/>
          <p:nvPr/>
        </p:nvSpPr>
        <p:spPr>
          <a:xfrm>
            <a:off x="4553712" y="3685032"/>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Process ledger</a:t>
            </a:r>
          </a:p>
        </p:txBody>
      </p:sp>
      <p:sp>
        <p:nvSpPr>
          <p:cNvPr id="25" name="TextBox 24"/>
          <p:cNvSpPr txBox="1"/>
          <p:nvPr/>
        </p:nvSpPr>
        <p:spPr>
          <a:xfrm>
            <a:off x="4553712" y="4050792"/>
            <a:ext cx="3054096" cy="1911096"/>
          </a:xfrm>
          <a:prstGeom prst="rect">
            <a:avLst/>
          </a:prstGeom>
          <a:noFill/>
        </p:spPr>
        <p:txBody>
          <a:bodyPr wrap="square" anchor="t"/>
          <a:lstStyle/>
          <a:p>
            <a:pPr algn="l">
              <a:spcBef>
                <a:spcPts val="0"/>
              </a:spcBef>
              <a:spcAft>
                <a:spcPts val="0"/>
              </a:spcAft>
            </a:pPr>
            <a:r>
              <a:rPr sz="1300" b="0">
                <a:solidFill>
                  <a:srgbClr val="A8ACB8"/>
                </a:solidFill>
                <a:latin typeface="Calibri"/>
              </a:rPr>
              <a:t>Opened, invited, tabled, agreed, closed. Not quotation.</a:t>
            </a:r>
          </a:p>
        </p:txBody>
      </p:sp>
      <p:sp>
        <p:nvSpPr>
          <p:cNvPr id="26" name="Rounded Rectangle 25"/>
          <p:cNvSpPr/>
          <p:nvPr/>
        </p:nvSpPr>
        <p:spPr>
          <a:xfrm>
            <a:off x="8092440" y="3246120"/>
            <a:ext cx="3566160" cy="288036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8472" y="3447288"/>
            <a:ext cx="3054096" cy="219456"/>
          </a:xfrm>
          <a:prstGeom prst="rect">
            <a:avLst/>
          </a:prstGeom>
          <a:noFill/>
        </p:spPr>
        <p:txBody>
          <a:bodyPr wrap="square" anchor="t"/>
          <a:lstStyle/>
          <a:p>
            <a:pPr algn="l">
              <a:spcBef>
                <a:spcPts val="0"/>
              </a:spcBef>
              <a:spcAft>
                <a:spcPts val="0"/>
              </a:spcAft>
            </a:pPr>
            <a:r>
              <a:rPr sz="1000" b="1">
                <a:solidFill>
                  <a:srgbClr val="5AAAB0"/>
                </a:solidFill>
                <a:latin typeface="Calibri"/>
              </a:rPr>
              <a:t>03</a:t>
            </a:r>
          </a:p>
        </p:txBody>
      </p:sp>
      <p:sp>
        <p:nvSpPr>
          <p:cNvPr id="28" name="TextBox 27"/>
          <p:cNvSpPr txBox="1"/>
          <p:nvPr/>
        </p:nvSpPr>
        <p:spPr>
          <a:xfrm>
            <a:off x="8348472" y="3685032"/>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Destruction receipt</a:t>
            </a:r>
          </a:p>
        </p:txBody>
      </p:sp>
      <p:sp>
        <p:nvSpPr>
          <p:cNvPr id="29" name="TextBox 28"/>
          <p:cNvSpPr txBox="1"/>
          <p:nvPr/>
        </p:nvSpPr>
        <p:spPr>
          <a:xfrm>
            <a:off x="8348472" y="4050792"/>
            <a:ext cx="3054096" cy="1911096"/>
          </a:xfrm>
          <a:prstGeom prst="rect">
            <a:avLst/>
          </a:prstGeom>
          <a:noFill/>
        </p:spPr>
        <p:txBody>
          <a:bodyPr wrap="square" anchor="t"/>
          <a:lstStyle/>
          <a:p>
            <a:pPr algn="l">
              <a:spcBef>
                <a:spcPts val="0"/>
              </a:spcBef>
              <a:spcAft>
                <a:spcPts val="0"/>
              </a:spcAft>
            </a:pPr>
            <a:r>
              <a:rPr sz="1300" b="0">
                <a:solidFill>
                  <a:srgbClr val="A8ACB8"/>
                </a:solidFill>
                <a:latin typeface="Calibri"/>
              </a:rPr>
              <a:t>After purge, hashes remain. Speech does not.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OBJECTS</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02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If the tool keeps a recording, you are not running the session you think you are.</a:t>
            </a:r>
          </a:p>
        </p:txBody>
      </p:sp>
      <p:sp>
        <p:nvSpPr>
          <p:cNvPr id="17" name="Rounded Rectangle 16"/>
          <p:cNvSpPr/>
          <p:nvPr/>
        </p:nvSpPr>
        <p:spPr>
          <a:xfrm>
            <a:off x="502920" y="2194560"/>
            <a:ext cx="356616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395728"/>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Live room</a:t>
            </a:r>
          </a:p>
        </p:txBody>
      </p:sp>
      <p:sp>
        <p:nvSpPr>
          <p:cNvPr id="19" name="TextBox 18"/>
          <p:cNvSpPr txBox="1"/>
          <p:nvPr/>
        </p:nvSpPr>
        <p:spPr>
          <a:xfrm>
            <a:off x="758952" y="2761488"/>
            <a:ext cx="3054096" cy="2743200"/>
          </a:xfrm>
          <a:prstGeom prst="rect">
            <a:avLst/>
          </a:prstGeom>
          <a:noFill/>
        </p:spPr>
        <p:txBody>
          <a:bodyPr wrap="square" anchor="t"/>
          <a:lstStyle/>
          <a:p>
            <a:pPr algn="l">
              <a:spcBef>
                <a:spcPts val="0"/>
              </a:spcBef>
              <a:spcAft>
                <a:spcPts val="0"/>
              </a:spcAft>
            </a:pPr>
            <a:r>
              <a:rPr sz="1300" b="0">
                <a:solidFill>
                  <a:srgbClr val="A8ACB8"/>
                </a:solidFill>
                <a:latin typeface="Calibri"/>
              </a:rPr>
              <a:t>Text is delivered and dropped. A RAM caucus pauses plenary. A shared clock is visible. Optional mesh voice never reaches Avelis.</a:t>
            </a:r>
          </a:p>
        </p:txBody>
      </p:sp>
      <p:sp>
        <p:nvSpPr>
          <p:cNvPr id="20" name="Rounded Rectangle 19"/>
          <p:cNvSpPr/>
          <p:nvPr/>
        </p:nvSpPr>
        <p:spPr>
          <a:xfrm>
            <a:off x="4297680" y="2194560"/>
            <a:ext cx="356616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53712" y="2395728"/>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Process ledger</a:t>
            </a:r>
          </a:p>
        </p:txBody>
      </p:sp>
      <p:sp>
        <p:nvSpPr>
          <p:cNvPr id="22" name="TextBox 21"/>
          <p:cNvSpPr txBox="1"/>
          <p:nvPr/>
        </p:nvSpPr>
        <p:spPr>
          <a:xfrm>
            <a:off x="4553712" y="2761488"/>
            <a:ext cx="3054096" cy="2743200"/>
          </a:xfrm>
          <a:prstGeom prst="rect">
            <a:avLst/>
          </a:prstGeom>
          <a:noFill/>
        </p:spPr>
        <p:txBody>
          <a:bodyPr wrap="square" anchor="t"/>
          <a:lstStyle/>
          <a:p>
            <a:pPr algn="l">
              <a:spcBef>
                <a:spcPts val="0"/>
              </a:spcBef>
              <a:spcAft>
                <a:spcPts val="0"/>
              </a:spcAft>
            </a:pPr>
            <a:r>
              <a:rPr sz="1300" b="0">
                <a:solidFill>
                  <a:srgbClr val="A8ACB8"/>
                </a:solidFill>
                <a:latin typeface="Calibri"/>
              </a:rPr>
              <a:t>Closed-vocabulary lines: opened, invited, tabled, agreed, closed. Not quotation. Not inference.</a:t>
            </a:r>
          </a:p>
        </p:txBody>
      </p:sp>
      <p:sp>
        <p:nvSpPr>
          <p:cNvPr id="23" name="Rounded Rectangle 22"/>
          <p:cNvSpPr/>
          <p:nvPr/>
        </p:nvSpPr>
        <p:spPr>
          <a:xfrm>
            <a:off x="8092440" y="2194560"/>
            <a:ext cx="3566160" cy="347472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8472" y="2395728"/>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Joint minute</a:t>
            </a:r>
          </a:p>
        </p:txBody>
      </p:sp>
      <p:sp>
        <p:nvSpPr>
          <p:cNvPr id="25" name="TextBox 24"/>
          <p:cNvSpPr txBox="1"/>
          <p:nvPr/>
        </p:nvSpPr>
        <p:spPr>
          <a:xfrm>
            <a:off x="8348472" y="2761488"/>
            <a:ext cx="3054096" cy="2743200"/>
          </a:xfrm>
          <a:prstGeom prst="rect">
            <a:avLst/>
          </a:prstGeom>
          <a:noFill/>
        </p:spPr>
        <p:txBody>
          <a:bodyPr wrap="square" anchor="t"/>
          <a:lstStyle/>
          <a:p>
            <a:pPr algn="l">
              <a:spcBef>
                <a:spcPts val="0"/>
              </a:spcBef>
              <a:spcAft>
                <a:spcPts val="0"/>
              </a:spcAft>
            </a:pPr>
            <a:r>
              <a:rPr sz="1300" b="0">
                <a:solidFill>
                  <a:srgbClr val="A8ACB8"/>
                </a:solidFill>
                <a:latin typeface="Calibri"/>
              </a:rPr>
              <a:t>Optional, facilitator-authored, separate from the room. May be exported or wiped. Not generated from speech.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LAWS</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03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Product laws that do not bend for convenience.</a:t>
            </a:r>
          </a:p>
        </p:txBody>
      </p:sp>
      <p:sp>
        <p:nvSpPr>
          <p:cNvPr id="17" name="Rounded Rectangle 16"/>
          <p:cNvSpPr/>
          <p:nvPr/>
        </p:nvSpPr>
        <p:spPr>
          <a:xfrm>
            <a:off x="502920" y="20116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286000"/>
            <a:ext cx="4892040" cy="731520"/>
          </a:xfrm>
          <a:prstGeom prst="rect">
            <a:avLst/>
          </a:prstGeom>
          <a:noFill/>
        </p:spPr>
        <p:txBody>
          <a:bodyPr wrap="square" anchor="t"/>
          <a:lstStyle/>
          <a:p>
            <a:pPr algn="l">
              <a:spcBef>
                <a:spcPts val="0"/>
              </a:spcBef>
              <a:spcAft>
                <a:spcPts val="0"/>
              </a:spcAft>
            </a:pPr>
            <a:r>
              <a:rPr sz="1500" b="0">
                <a:solidFill>
                  <a:srgbClr val="A8ACB8"/>
                </a:solidFill>
                <a:latin typeface="Calibri"/>
              </a:rPr>
              <a:t>Avelis is a disclosed conflict agent. It does not write the ledger. Audio is not recorded.</a:t>
            </a:r>
          </a:p>
        </p:txBody>
      </p:sp>
      <p:sp>
        <p:nvSpPr>
          <p:cNvPr id="19" name="Rounded Rectangle 18"/>
          <p:cNvSpPr/>
          <p:nvPr/>
        </p:nvSpPr>
        <p:spPr>
          <a:xfrm>
            <a:off x="6355080" y="20116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286000"/>
            <a:ext cx="4892040" cy="731520"/>
          </a:xfrm>
          <a:prstGeom prst="rect">
            <a:avLst/>
          </a:prstGeom>
          <a:noFill/>
        </p:spPr>
        <p:txBody>
          <a:bodyPr wrap="square" anchor="t"/>
          <a:lstStyle/>
          <a:p>
            <a:pPr algn="l">
              <a:spcBef>
                <a:spcPts val="0"/>
              </a:spcBef>
              <a:spcAft>
                <a:spcPts val="0"/>
              </a:spcAft>
            </a:pPr>
            <a:r>
              <a:rPr sz="1500" b="0">
                <a:solidFill>
                  <a:srgbClr val="A8ACB8"/>
                </a:solidFill>
                <a:latin typeface="Calibri"/>
              </a:rPr>
              <a:t>No model summarizes, transcribes, drafts, or classifies session content.</a:t>
            </a:r>
          </a:p>
        </p:txBody>
      </p:sp>
      <p:sp>
        <p:nvSpPr>
          <p:cNvPr id="21" name="Rounded Rectangle 20"/>
          <p:cNvSpPr/>
          <p:nvPr/>
        </p:nvSpPr>
        <p:spPr>
          <a:xfrm>
            <a:off x="502920" y="33832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657600"/>
            <a:ext cx="4892040" cy="731520"/>
          </a:xfrm>
          <a:prstGeom prst="rect">
            <a:avLst/>
          </a:prstGeom>
          <a:noFill/>
        </p:spPr>
        <p:txBody>
          <a:bodyPr wrap="square" anchor="t"/>
          <a:lstStyle/>
          <a:p>
            <a:pPr algn="l">
              <a:spcBef>
                <a:spcPts val="0"/>
              </a:spcBef>
              <a:spcAft>
                <a:spcPts val="0"/>
              </a:spcAft>
            </a:pPr>
            <a:r>
              <a:rPr sz="1500" b="0">
                <a:solidFill>
                  <a:srgbClr val="A8ACB8"/>
                </a:solidFill>
                <a:latin typeface="Calibri"/>
              </a:rPr>
              <a:t>Parties do not create standing accounts. Access is a one-time invite.</a:t>
            </a:r>
          </a:p>
        </p:txBody>
      </p:sp>
      <p:sp>
        <p:nvSpPr>
          <p:cNvPr id="23" name="Rounded Rectangle 22"/>
          <p:cNvSpPr/>
          <p:nvPr/>
        </p:nvSpPr>
        <p:spPr>
          <a:xfrm>
            <a:off x="6355080" y="33832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657600"/>
            <a:ext cx="4892040" cy="731520"/>
          </a:xfrm>
          <a:prstGeom prst="rect">
            <a:avLst/>
          </a:prstGeom>
          <a:noFill/>
        </p:spPr>
        <p:txBody>
          <a:bodyPr wrap="square" anchor="t"/>
          <a:lstStyle/>
          <a:p>
            <a:pPr algn="l">
              <a:spcBef>
                <a:spcPts val="0"/>
              </a:spcBef>
              <a:spcAft>
                <a:spcPts val="0"/>
              </a:spcAft>
            </a:pPr>
            <a:r>
              <a:rPr sz="1500" b="0">
                <a:solidFill>
                  <a:srgbClr val="A8ACB8"/>
                </a:solidFill>
                <a:latin typeface="Calibri"/>
              </a:rPr>
              <a:t>Identity is a session-scoped class: named, role only, affiliation only, unnamed.</a:t>
            </a:r>
          </a:p>
        </p:txBody>
      </p:sp>
      <p:sp>
        <p:nvSpPr>
          <p:cNvPr id="25" name="Rounded Rectangle 24"/>
          <p:cNvSpPr/>
          <p:nvPr/>
        </p:nvSpPr>
        <p:spPr>
          <a:xfrm>
            <a:off x="502920" y="47548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029200"/>
            <a:ext cx="4892040" cy="731520"/>
          </a:xfrm>
          <a:prstGeom prst="rect">
            <a:avLst/>
          </a:prstGeom>
          <a:noFill/>
        </p:spPr>
        <p:txBody>
          <a:bodyPr wrap="square" anchor="t"/>
          <a:lstStyle/>
          <a:p>
            <a:pPr algn="l">
              <a:spcBef>
                <a:spcPts val="0"/>
              </a:spcBef>
              <a:spcAft>
                <a:spcPts val="0"/>
              </a:spcAft>
            </a:pPr>
            <a:r>
              <a:rPr sz="1500" b="0">
                <a:solidFill>
                  <a:srgbClr val="A8ACB8"/>
                </a:solidFill>
                <a:latin typeface="Calibri"/>
              </a:rPr>
              <a:t>Retention is chosen in draft, locked when the session opens, then enforced.</a:t>
            </a:r>
          </a:p>
        </p:txBody>
      </p:sp>
      <p:sp>
        <p:nvSpPr>
          <p:cNvPr id="27" name="Rounded Rectangle 26"/>
          <p:cNvSpPr/>
          <p:nvPr/>
        </p:nvSpPr>
        <p:spPr>
          <a:xfrm>
            <a:off x="6355080" y="47548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5029200"/>
            <a:ext cx="4892040" cy="731520"/>
          </a:xfrm>
          <a:prstGeom prst="rect">
            <a:avLst/>
          </a:prstGeom>
          <a:noFill/>
        </p:spPr>
        <p:txBody>
          <a:bodyPr wrap="square" anchor="t"/>
          <a:lstStyle/>
          <a:p>
            <a:pPr algn="l">
              <a:spcBef>
                <a:spcPts val="0"/>
              </a:spcBef>
              <a:spcAft>
                <a:spcPts val="0"/>
              </a:spcAft>
            </a:pPr>
            <a:r>
              <a:rPr sz="1500" b="0">
                <a:solidFill>
                  <a:srgbClr val="A8ACB8"/>
                </a:solidFill>
                <a:latin typeface="Calibri"/>
              </a:rPr>
              <a:t>A destruction receipt is the only indefinite session-derived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IDENTITY</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04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Two doors. Only one of them is an account.</a:t>
            </a:r>
          </a:p>
        </p:txBody>
      </p:sp>
      <p:sp>
        <p:nvSpPr>
          <p:cNvPr id="17" name="Rounded Rectangle 16"/>
          <p:cNvSpPr/>
          <p:nvPr/>
        </p:nvSpPr>
        <p:spPr>
          <a:xfrm>
            <a:off x="502920" y="2103120"/>
            <a:ext cx="5486400" cy="36576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304288"/>
            <a:ext cx="4974336" cy="219456"/>
          </a:xfrm>
          <a:prstGeom prst="rect">
            <a:avLst/>
          </a:prstGeom>
          <a:noFill/>
        </p:spPr>
        <p:txBody>
          <a:bodyPr wrap="square" anchor="t"/>
          <a:lstStyle/>
          <a:p>
            <a:pPr algn="l">
              <a:spcBef>
                <a:spcPts val="0"/>
              </a:spcBef>
              <a:spcAft>
                <a:spcPts val="0"/>
              </a:spcAft>
            </a:pPr>
            <a:r>
              <a:rPr sz="1000" b="1">
                <a:solidFill>
                  <a:srgbClr val="5AAAB0"/>
                </a:solidFill>
                <a:latin typeface="Calibri"/>
              </a:rPr>
              <a:t>FACILITATOR</a:t>
            </a:r>
          </a:p>
        </p:txBody>
      </p:sp>
      <p:sp>
        <p:nvSpPr>
          <p:cNvPr id="19" name="TextBox 18"/>
          <p:cNvSpPr txBox="1"/>
          <p:nvPr/>
        </p:nvSpPr>
        <p:spPr>
          <a:xfrm>
            <a:off x="758952" y="2542032"/>
            <a:ext cx="4974336" cy="347472"/>
          </a:xfrm>
          <a:prstGeom prst="rect">
            <a:avLst/>
          </a:prstGeom>
          <a:noFill/>
        </p:spPr>
        <p:txBody>
          <a:bodyPr wrap="square" anchor="t"/>
          <a:lstStyle/>
          <a:p>
            <a:pPr algn="l">
              <a:spcBef>
                <a:spcPts val="0"/>
              </a:spcBef>
              <a:spcAft>
                <a:spcPts val="0"/>
              </a:spcAft>
            </a:pPr>
            <a:r>
              <a:rPr sz="1600" b="1">
                <a:solidFill>
                  <a:srgbClr val="EDECE4"/>
                </a:solidFill>
                <a:latin typeface="Calibri"/>
              </a:rPr>
              <a:t>Organization seat</a:t>
            </a:r>
          </a:p>
        </p:txBody>
      </p:sp>
      <p:sp>
        <p:nvSpPr>
          <p:cNvPr id="20" name="TextBox 19"/>
          <p:cNvSpPr txBox="1"/>
          <p:nvPr/>
        </p:nvSpPr>
        <p:spPr>
          <a:xfrm>
            <a:off x="758952" y="2907792"/>
            <a:ext cx="4974336" cy="2688336"/>
          </a:xfrm>
          <a:prstGeom prst="rect">
            <a:avLst/>
          </a:prstGeom>
          <a:noFill/>
        </p:spPr>
        <p:txBody>
          <a:bodyPr wrap="square" anchor="t"/>
          <a:lstStyle/>
          <a:p>
            <a:pPr algn="l">
              <a:spcBef>
                <a:spcPts val="0"/>
              </a:spcBef>
              <a:spcAft>
                <a:spcPts val="0"/>
              </a:spcAft>
            </a:pPr>
            <a:r>
              <a:rPr sz="1300" b="0">
                <a:solidFill>
                  <a:srgbClr val="A8ACB8"/>
                </a:solidFill>
                <a:latin typeface="Calibri"/>
              </a:rPr>
              <a:t>Provisioned after evaluation. Runs the console: open, invite, ledger, minute, close. Token stays in the tab.</a:t>
            </a:r>
          </a:p>
        </p:txBody>
      </p:sp>
      <p:sp>
        <p:nvSpPr>
          <p:cNvPr id="21" name="Rounded Rectangle 20"/>
          <p:cNvSpPr/>
          <p:nvPr/>
        </p:nvSpPr>
        <p:spPr>
          <a:xfrm>
            <a:off x="6217920" y="2103120"/>
            <a:ext cx="5486400" cy="365760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2304288"/>
            <a:ext cx="4974336" cy="219456"/>
          </a:xfrm>
          <a:prstGeom prst="rect">
            <a:avLst/>
          </a:prstGeom>
          <a:noFill/>
        </p:spPr>
        <p:txBody>
          <a:bodyPr wrap="square" anchor="t"/>
          <a:lstStyle/>
          <a:p>
            <a:pPr algn="l">
              <a:spcBef>
                <a:spcPts val="0"/>
              </a:spcBef>
              <a:spcAft>
                <a:spcPts val="0"/>
              </a:spcAft>
            </a:pPr>
            <a:r>
              <a:rPr sz="1000" b="1">
                <a:solidFill>
                  <a:srgbClr val="5AAAB0"/>
                </a:solidFill>
                <a:latin typeface="Calibri"/>
              </a:rPr>
              <a:t>PARTY</a:t>
            </a:r>
          </a:p>
        </p:txBody>
      </p:sp>
      <p:sp>
        <p:nvSpPr>
          <p:cNvPr id="23" name="TextBox 22"/>
          <p:cNvSpPr txBox="1"/>
          <p:nvPr/>
        </p:nvSpPr>
        <p:spPr>
          <a:xfrm>
            <a:off x="6473952" y="2542032"/>
            <a:ext cx="4974336" cy="347472"/>
          </a:xfrm>
          <a:prstGeom prst="rect">
            <a:avLst/>
          </a:prstGeom>
          <a:noFill/>
        </p:spPr>
        <p:txBody>
          <a:bodyPr wrap="square" anchor="t"/>
          <a:lstStyle/>
          <a:p>
            <a:pPr algn="l">
              <a:spcBef>
                <a:spcPts val="0"/>
              </a:spcBef>
              <a:spcAft>
                <a:spcPts val="0"/>
              </a:spcAft>
            </a:pPr>
            <a:r>
              <a:rPr sz="1600" b="1">
                <a:solidFill>
                  <a:srgbClr val="EDECE4"/>
                </a:solidFill>
                <a:latin typeface="Calibri"/>
              </a:rPr>
              <a:t>Invite only</a:t>
            </a:r>
          </a:p>
        </p:txBody>
      </p:sp>
      <p:sp>
        <p:nvSpPr>
          <p:cNvPr id="24" name="TextBox 23"/>
          <p:cNvSpPr txBox="1"/>
          <p:nvPr/>
        </p:nvSpPr>
        <p:spPr>
          <a:xfrm>
            <a:off x="6473952" y="2907792"/>
            <a:ext cx="4974336" cy="2688336"/>
          </a:xfrm>
          <a:prstGeom prst="rect">
            <a:avLst/>
          </a:prstGeom>
          <a:noFill/>
        </p:spPr>
        <p:txBody>
          <a:bodyPr wrap="square" anchor="t"/>
          <a:lstStyle/>
          <a:p>
            <a:pPr algn="l">
              <a:spcBef>
                <a:spcPts val="0"/>
              </a:spcBef>
              <a:spcAft>
                <a:spcPts val="0"/>
              </a:spcAft>
            </a:pPr>
            <a:r>
              <a:rPr sz="1300" b="0">
                <a:solidFill>
                  <a:srgbClr val="A8ACB8"/>
                </a:solidFill>
                <a:latin typeface="Calibri"/>
              </a:rPr>
              <a:t>One-time code. No profile, no directory, no cross-session graph. Credentials live in the browser tab for this session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CONSOLE</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05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What a facilitator actually does in the console.</a:t>
            </a:r>
          </a:p>
        </p:txBody>
      </p:sp>
      <p:sp>
        <p:nvSpPr>
          <p:cNvPr id="17" name="Rounded Rectangle 16"/>
          <p:cNvSpPr/>
          <p:nvPr/>
        </p:nvSpPr>
        <p:spPr>
          <a:xfrm>
            <a:off x="502920" y="20116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2176272"/>
            <a:ext cx="914400" cy="274320"/>
          </a:xfrm>
          <a:prstGeom prst="rect">
            <a:avLst/>
          </a:prstGeom>
          <a:noFill/>
        </p:spPr>
        <p:txBody>
          <a:bodyPr wrap="square" anchor="t"/>
          <a:lstStyle/>
          <a:p>
            <a:pPr algn="l">
              <a:spcBef>
                <a:spcPts val="0"/>
              </a:spcBef>
              <a:spcAft>
                <a:spcPts val="0"/>
              </a:spcAft>
            </a:pPr>
            <a:r>
              <a:rPr sz="1100" b="1">
                <a:solidFill>
                  <a:srgbClr val="5AAAB0"/>
                </a:solidFill>
                <a:latin typeface="Consolas"/>
              </a:rPr>
              <a:t>01</a:t>
            </a:r>
          </a:p>
        </p:txBody>
      </p:sp>
      <p:sp>
        <p:nvSpPr>
          <p:cNvPr id="19" name="TextBox 18"/>
          <p:cNvSpPr txBox="1"/>
          <p:nvPr/>
        </p:nvSpPr>
        <p:spPr>
          <a:xfrm>
            <a:off x="704088" y="2468880"/>
            <a:ext cx="4937760" cy="640080"/>
          </a:xfrm>
          <a:prstGeom prst="rect">
            <a:avLst/>
          </a:prstGeom>
          <a:noFill/>
        </p:spPr>
        <p:txBody>
          <a:bodyPr wrap="square" anchor="t"/>
          <a:lstStyle/>
          <a:p>
            <a:pPr algn="l">
              <a:spcBef>
                <a:spcPts val="0"/>
              </a:spcBef>
              <a:spcAft>
                <a:spcPts val="0"/>
              </a:spcAft>
            </a:pPr>
            <a:r>
              <a:rPr sz="1400" b="0">
                <a:solidFill>
                  <a:srgbClr val="A8ACB8"/>
                </a:solidFill>
                <a:latin typeface="Calibri"/>
              </a:rPr>
              <a:t>Create a session and set how long process records are retained.</a:t>
            </a:r>
          </a:p>
        </p:txBody>
      </p:sp>
      <p:sp>
        <p:nvSpPr>
          <p:cNvPr id="20" name="Rounded Rectangle 19"/>
          <p:cNvSpPr/>
          <p:nvPr/>
        </p:nvSpPr>
        <p:spPr>
          <a:xfrm>
            <a:off x="6355080" y="20116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56248" y="2176272"/>
            <a:ext cx="914400" cy="274320"/>
          </a:xfrm>
          <a:prstGeom prst="rect">
            <a:avLst/>
          </a:prstGeom>
          <a:noFill/>
        </p:spPr>
        <p:txBody>
          <a:bodyPr wrap="square" anchor="t"/>
          <a:lstStyle/>
          <a:p>
            <a:pPr algn="l">
              <a:spcBef>
                <a:spcPts val="0"/>
              </a:spcBef>
              <a:spcAft>
                <a:spcPts val="0"/>
              </a:spcAft>
            </a:pPr>
            <a:r>
              <a:rPr sz="1100" b="1">
                <a:solidFill>
                  <a:srgbClr val="5AAAB0"/>
                </a:solidFill>
                <a:latin typeface="Consolas"/>
              </a:rPr>
              <a:t>02</a:t>
            </a:r>
          </a:p>
        </p:txBody>
      </p:sp>
      <p:sp>
        <p:nvSpPr>
          <p:cNvPr id="22" name="TextBox 21"/>
          <p:cNvSpPr txBox="1"/>
          <p:nvPr/>
        </p:nvSpPr>
        <p:spPr>
          <a:xfrm>
            <a:off x="6556248" y="2468880"/>
            <a:ext cx="4937760" cy="640080"/>
          </a:xfrm>
          <a:prstGeom prst="rect">
            <a:avLst/>
          </a:prstGeom>
          <a:noFill/>
        </p:spPr>
        <p:txBody>
          <a:bodyPr wrap="square" anchor="t"/>
          <a:lstStyle/>
          <a:p>
            <a:pPr algn="l">
              <a:spcBef>
                <a:spcPts val="0"/>
              </a:spcBef>
              <a:spcAft>
                <a:spcPts val="0"/>
              </a:spcAft>
            </a:pPr>
            <a:r>
              <a:rPr sz="1400" b="0">
                <a:solidFill>
                  <a:srgbClr val="A8ACB8"/>
                </a:solidFill>
                <a:latin typeface="Calibri"/>
              </a:rPr>
              <a:t>Issue a one-time invite. Copy a link, or deliver once. The code is shown once.</a:t>
            </a:r>
          </a:p>
        </p:txBody>
      </p:sp>
      <p:sp>
        <p:nvSpPr>
          <p:cNvPr id="23" name="Rounded Rectangle 22"/>
          <p:cNvSpPr/>
          <p:nvPr/>
        </p:nvSpPr>
        <p:spPr>
          <a:xfrm>
            <a:off x="502920" y="33832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3547872"/>
            <a:ext cx="914400" cy="274320"/>
          </a:xfrm>
          <a:prstGeom prst="rect">
            <a:avLst/>
          </a:prstGeom>
          <a:noFill/>
        </p:spPr>
        <p:txBody>
          <a:bodyPr wrap="square" anchor="t"/>
          <a:lstStyle/>
          <a:p>
            <a:pPr algn="l">
              <a:spcBef>
                <a:spcPts val="0"/>
              </a:spcBef>
              <a:spcAft>
                <a:spcPts val="0"/>
              </a:spcAft>
            </a:pPr>
            <a:r>
              <a:rPr sz="1100" b="1">
                <a:solidFill>
                  <a:srgbClr val="5AAAB0"/>
                </a:solidFill>
                <a:latin typeface="Consolas"/>
              </a:rPr>
              <a:t>03</a:t>
            </a:r>
          </a:p>
        </p:txBody>
      </p:sp>
      <p:sp>
        <p:nvSpPr>
          <p:cNvPr id="25" name="TextBox 24"/>
          <p:cNvSpPr txBox="1"/>
          <p:nvPr/>
        </p:nvSpPr>
        <p:spPr>
          <a:xfrm>
            <a:off x="704088" y="3840480"/>
            <a:ext cx="4937760" cy="640080"/>
          </a:xfrm>
          <a:prstGeom prst="rect">
            <a:avLst/>
          </a:prstGeom>
          <a:noFill/>
        </p:spPr>
        <p:txBody>
          <a:bodyPr wrap="square" anchor="t"/>
          <a:lstStyle/>
          <a:p>
            <a:pPr algn="l">
              <a:spcBef>
                <a:spcPts val="0"/>
              </a:spcBef>
              <a:spcAft>
                <a:spcPts val="0"/>
              </a:spcAft>
            </a:pPr>
            <a:r>
              <a:rPr sz="1400" b="0">
                <a:solidFill>
                  <a:srgbClr val="A8ACB8"/>
                </a:solidFill>
                <a:latin typeface="Calibri"/>
              </a:rPr>
              <a:t>Open the session. Enter the live room. Speech is not written down.</a:t>
            </a:r>
          </a:p>
        </p:txBody>
      </p:sp>
      <p:sp>
        <p:nvSpPr>
          <p:cNvPr id="26" name="Rounded Rectangle 25"/>
          <p:cNvSpPr/>
          <p:nvPr/>
        </p:nvSpPr>
        <p:spPr>
          <a:xfrm>
            <a:off x="6355080" y="33832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6248" y="3547872"/>
            <a:ext cx="914400" cy="274320"/>
          </a:xfrm>
          <a:prstGeom prst="rect">
            <a:avLst/>
          </a:prstGeom>
          <a:noFill/>
        </p:spPr>
        <p:txBody>
          <a:bodyPr wrap="square" anchor="t"/>
          <a:lstStyle/>
          <a:p>
            <a:pPr algn="l">
              <a:spcBef>
                <a:spcPts val="0"/>
              </a:spcBef>
              <a:spcAft>
                <a:spcPts val="0"/>
              </a:spcAft>
            </a:pPr>
            <a:r>
              <a:rPr sz="1100" b="1">
                <a:solidFill>
                  <a:srgbClr val="5AAAB0"/>
                </a:solidFill>
                <a:latin typeface="Consolas"/>
              </a:rPr>
              <a:t>04</a:t>
            </a:r>
          </a:p>
        </p:txBody>
      </p:sp>
      <p:sp>
        <p:nvSpPr>
          <p:cNvPr id="28" name="TextBox 27"/>
          <p:cNvSpPr txBox="1"/>
          <p:nvPr/>
        </p:nvSpPr>
        <p:spPr>
          <a:xfrm>
            <a:off x="6556248" y="3840480"/>
            <a:ext cx="4937760" cy="640080"/>
          </a:xfrm>
          <a:prstGeom prst="rect">
            <a:avLst/>
          </a:prstGeom>
          <a:noFill/>
        </p:spPr>
        <p:txBody>
          <a:bodyPr wrap="square" anchor="t"/>
          <a:lstStyle/>
          <a:p>
            <a:pPr algn="l">
              <a:spcBef>
                <a:spcPts val="0"/>
              </a:spcBef>
              <a:spcAft>
                <a:spcPts val="0"/>
              </a:spcAft>
            </a:pPr>
            <a:r>
              <a:rPr sz="1400" b="0">
                <a:solidFill>
                  <a:srgbClr val="A8ACB8"/>
                </a:solidFill>
                <a:latin typeface="Calibri"/>
              </a:rPr>
              <a:t>Table agenda items. Mark agreed, parked, refused, or tabled — process labels, not quotes.</a:t>
            </a:r>
          </a:p>
        </p:txBody>
      </p:sp>
      <p:sp>
        <p:nvSpPr>
          <p:cNvPr id="29" name="Rounded Rectangle 28"/>
          <p:cNvSpPr/>
          <p:nvPr/>
        </p:nvSpPr>
        <p:spPr>
          <a:xfrm>
            <a:off x="502920" y="47548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4088" y="4919472"/>
            <a:ext cx="914400" cy="274320"/>
          </a:xfrm>
          <a:prstGeom prst="rect">
            <a:avLst/>
          </a:prstGeom>
          <a:noFill/>
        </p:spPr>
        <p:txBody>
          <a:bodyPr wrap="square" anchor="t"/>
          <a:lstStyle/>
          <a:p>
            <a:pPr algn="l">
              <a:spcBef>
                <a:spcPts val="0"/>
              </a:spcBef>
              <a:spcAft>
                <a:spcPts val="0"/>
              </a:spcAft>
            </a:pPr>
            <a:r>
              <a:rPr sz="1100" b="1">
                <a:solidFill>
                  <a:srgbClr val="5AAAB0"/>
                </a:solidFill>
                <a:latin typeface="Consolas"/>
              </a:rPr>
              <a:t>05</a:t>
            </a:r>
          </a:p>
        </p:txBody>
      </p:sp>
      <p:sp>
        <p:nvSpPr>
          <p:cNvPr id="31" name="TextBox 30"/>
          <p:cNvSpPr txBox="1"/>
          <p:nvPr/>
        </p:nvSpPr>
        <p:spPr>
          <a:xfrm>
            <a:off x="704088" y="5212080"/>
            <a:ext cx="4937760" cy="640080"/>
          </a:xfrm>
          <a:prstGeom prst="rect">
            <a:avLst/>
          </a:prstGeom>
          <a:noFill/>
        </p:spPr>
        <p:txBody>
          <a:bodyPr wrap="square" anchor="t"/>
          <a:lstStyle/>
          <a:p>
            <a:pPr algn="l">
              <a:spcBef>
                <a:spcPts val="0"/>
              </a:spcBef>
              <a:spcAft>
                <a:spcPts val="0"/>
              </a:spcAft>
            </a:pPr>
            <a:r>
              <a:rPr sz="1400" b="0">
                <a:solidFill>
                  <a:srgbClr val="A8ACB8"/>
                </a:solidFill>
                <a:latin typeface="Calibri"/>
              </a:rPr>
              <a:t>Optionally write a joint minute. Publish. Parties may record an initial — not a legal signature.</a:t>
            </a:r>
          </a:p>
        </p:txBody>
      </p:sp>
      <p:sp>
        <p:nvSpPr>
          <p:cNvPr id="32" name="Rounded Rectangle 31"/>
          <p:cNvSpPr/>
          <p:nvPr/>
        </p:nvSpPr>
        <p:spPr>
          <a:xfrm>
            <a:off x="6355080" y="4754880"/>
            <a:ext cx="5349240" cy="1234440"/>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6248" y="4919472"/>
            <a:ext cx="914400" cy="274320"/>
          </a:xfrm>
          <a:prstGeom prst="rect">
            <a:avLst/>
          </a:prstGeom>
          <a:noFill/>
        </p:spPr>
        <p:txBody>
          <a:bodyPr wrap="square" anchor="t"/>
          <a:lstStyle/>
          <a:p>
            <a:pPr algn="l">
              <a:spcBef>
                <a:spcPts val="0"/>
              </a:spcBef>
              <a:spcAft>
                <a:spcPts val="0"/>
              </a:spcAft>
            </a:pPr>
            <a:r>
              <a:rPr sz="1100" b="1">
                <a:solidFill>
                  <a:srgbClr val="5AAAB0"/>
                </a:solidFill>
                <a:latin typeface="Consolas"/>
              </a:rPr>
              <a:t>06</a:t>
            </a:r>
          </a:p>
        </p:txBody>
      </p:sp>
      <p:sp>
        <p:nvSpPr>
          <p:cNvPr id="34" name="TextBox 33"/>
          <p:cNvSpPr txBox="1"/>
          <p:nvPr/>
        </p:nvSpPr>
        <p:spPr>
          <a:xfrm>
            <a:off x="6556248" y="5212080"/>
            <a:ext cx="4937760" cy="640080"/>
          </a:xfrm>
          <a:prstGeom prst="rect">
            <a:avLst/>
          </a:prstGeom>
          <a:noFill/>
        </p:spPr>
        <p:txBody>
          <a:bodyPr wrap="square" anchor="t"/>
          <a:lstStyle/>
          <a:p>
            <a:pPr algn="l">
              <a:spcBef>
                <a:spcPts val="0"/>
              </a:spcBef>
              <a:spcAft>
                <a:spcPts val="0"/>
              </a:spcAft>
            </a:pPr>
            <a:r>
              <a:rPr sz="1400" b="0">
                <a:solidFill>
                  <a:srgbClr val="A8ACB8"/>
                </a:solidFill>
                <a:latin typeface="Calibri"/>
              </a:rPr>
              <a:t>Close. The room is destroyed. At the deadline, records are destroyed. Verify the receipt.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THREAT MODEL</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06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What this architecture defends — and what it does not claim.</a:t>
            </a:r>
          </a:p>
        </p:txBody>
      </p:sp>
      <p:graphicFrame>
        <p:nvGraphicFramePr>
          <p:cNvPr id="17" name="Table 16"/>
          <p:cNvGraphicFramePr>
            <a:graphicFrameLocks noGrp="1"/>
          </p:cNvGraphicFramePr>
          <p:nvPr/>
        </p:nvGraphicFramePr>
        <p:xfrm>
          <a:off x="502920" y="1965960"/>
          <a:ext cx="11155680" cy="3383280"/>
        </p:xfrm>
        <a:graphic>
          <a:graphicData uri="http://schemas.openxmlformats.org/drawingml/2006/table">
            <a:tbl>
              <a:tblPr firstRow="1" bandRow="1">
                <a:tableStyleId>{5C22544A-7EE6-4342-B048-85BDC9FD1C3A}</a:tableStyleId>
              </a:tblPr>
              <a:tblGrid>
                <a:gridCol w="5577840"/>
                <a:gridCol w="5577840"/>
              </a:tblGrid>
              <a:tr h="483325">
                <a:tc>
                  <a:txBody>
                    <a:bodyPr/>
                    <a:lstStyle/>
                    <a:p>
                      <a:pPr algn="l"/>
                      <a:r>
                        <a:rPr sz="1100" b="1">
                          <a:solidFill>
                            <a:srgbClr val="787C88"/>
                          </a:solidFill>
                          <a:latin typeface="Calibri"/>
                        </a:rPr>
                        <a:t>Threat</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100" b="1">
                          <a:solidFill>
                            <a:srgbClr val="787C88"/>
                          </a:solidFill>
                          <a:latin typeface="Calibri"/>
                        </a:rPr>
                        <a:t>Direction</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83325">
                <a:tc>
                  <a:txBody>
                    <a:bodyPr/>
                    <a:lstStyle/>
                    <a:p>
                      <a:pPr algn="l"/>
                      <a:r>
                        <a:rPr sz="1200" b="1">
                          <a:solidFill>
                            <a:srgbClr val="EDECE4"/>
                          </a:solidFill>
                          <a:latin typeface="Calibri"/>
                        </a:rPr>
                        <a:t>Logging or analytics capturing speech</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Startup guards; structured logs without bodies</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r h="483325">
                <a:tc>
                  <a:txBody>
                    <a:bodyPr/>
                    <a:lstStyle/>
                    <a:p>
                      <a:pPr algn="l"/>
                      <a:r>
                        <a:rPr sz="1200" b="1">
                          <a:solidFill>
                            <a:srgbClr val="EDECE4"/>
                          </a:solidFill>
                          <a:latin typeface="Calibri"/>
                        </a:rPr>
                        <a:t>Room state on disk or swap</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Memory-only process; no room volume</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83325">
                <a:tc>
                  <a:txBody>
                    <a:bodyPr/>
                    <a:lstStyle/>
                    <a:p>
                      <a:pPr algn="l"/>
                      <a:r>
                        <a:rPr sz="1200" b="1">
                          <a:solidFill>
                            <a:srgbClr val="EDECE4"/>
                          </a:solidFill>
                          <a:latin typeface="Calibri"/>
                        </a:rPr>
                        <a:t>Placeholder or short room secret</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Refuse production start</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r h="483325">
                <a:tc>
                  <a:txBody>
                    <a:bodyPr/>
                    <a:lstStyle/>
                    <a:p>
                      <a:pPr algn="l"/>
                      <a:r>
                        <a:rPr sz="1200" b="1">
                          <a:solidFill>
                            <a:srgbClr val="EDECE4"/>
                          </a:solidFill>
                          <a:latin typeface="Calibri"/>
                        </a:rPr>
                        <a:t>Raw shared secret used as a token</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Rejected always; HMAC only</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r h="483325">
                <a:tc>
                  <a:txBody>
                    <a:bodyPr/>
                    <a:lstStyle/>
                    <a:p>
                      <a:pPr algn="l"/>
                      <a:r>
                        <a:rPr sz="1200" b="1">
                          <a:solidFill>
                            <a:srgbClr val="EDECE4"/>
                          </a:solidFill>
                          <a:latin typeface="Calibri"/>
                        </a:rPr>
                        <a:t>Backup resurrecting purged bodies</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Purge-aware restore policy</a:t>
                      </a:r>
                    </a:p>
                  </a:txBody>
                  <a:tcPr>
                    <a:solidFill>
                      <a:srgbClr val="22232C"/>
                    </a:solidFill>
                    <a:lnL w="6350">
                      <a:solidFill>
                        <a:srgbClr val="3A3C48"/>
                      </a:solidFill>
                    </a:lnL>
                    <a:lnR w="6350">
                      <a:solidFill>
                        <a:srgbClr val="3A3C48"/>
                      </a:solidFill>
                    </a:lnR>
                    <a:lnT w="6350">
                      <a:solidFill>
                        <a:srgbClr val="3A3C48"/>
                      </a:solidFill>
                    </a:lnT>
                    <a:lnB w="6350">
                      <a:solidFill>
                        <a:srgbClr val="3A3C48"/>
                      </a:solidFill>
                    </a:lnB>
                  </a:tcPr>
                </a:tc>
              </a:tr>
              <a:tr h="483330">
                <a:tc>
                  <a:txBody>
                    <a:bodyPr/>
                    <a:lstStyle/>
                    <a:p>
                      <a:pPr algn="l"/>
                      <a:r>
                        <a:rPr sz="1200" b="1">
                          <a:solidFill>
                            <a:srgbClr val="EDECE4"/>
                          </a:solidFill>
                          <a:latin typeface="Calibri"/>
                        </a:rPr>
                        <a:t>Security telemetry in the party ledger</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c>
                  <a:txBody>
                    <a:bodyPr/>
                    <a:lstStyle/>
                    <a:p>
                      <a:pPr algn="l"/>
                      <a:r>
                        <a:rPr sz="1200" b="0">
                          <a:solidFill>
                            <a:srgbClr val="A8ACB8"/>
                          </a:solidFill>
                          <a:latin typeface="Calibri"/>
                        </a:rPr>
                        <a:t>Separate audit store, timed purge</a:t>
                      </a:r>
                    </a:p>
                  </a:txBody>
                  <a:tcPr>
                    <a:solidFill>
                      <a:srgbClr val="2A2C36"/>
                    </a:solidFill>
                    <a:lnL w="6350">
                      <a:solidFill>
                        <a:srgbClr val="3A3C48"/>
                      </a:solidFill>
                    </a:lnL>
                    <a:lnR w="6350">
                      <a:solidFill>
                        <a:srgbClr val="3A3C48"/>
                      </a:solidFill>
                    </a:lnR>
                    <a:lnT w="6350">
                      <a:solidFill>
                        <a:srgbClr val="3A3C48"/>
                      </a:solidFill>
                    </a:lnT>
                    <a:lnB w="6350">
                      <a:solidFill>
                        <a:srgbClr val="3A3C48"/>
                      </a:solidFill>
                    </a:lnB>
                  </a:tcPr>
                </a:tc>
              </a:tr>
            </a:tbl>
          </a:graphicData>
        </a:graphic>
      </p:graphicFrame>
      <p:sp>
        <p:nvSpPr>
          <p:cNvPr id="18" name="TextBox 17"/>
          <p:cNvSpPr txBox="1"/>
          <p:nvPr/>
        </p:nvSpPr>
        <p:spPr>
          <a:xfrm>
            <a:off x="502920" y="5577840"/>
            <a:ext cx="11155680" cy="640080"/>
          </a:xfrm>
          <a:prstGeom prst="rect">
            <a:avLst/>
          </a:prstGeom>
          <a:noFill/>
        </p:spPr>
        <p:txBody>
          <a:bodyPr wrap="square" anchor="t"/>
          <a:lstStyle/>
          <a:p>
            <a:pPr algn="l">
              <a:spcBef>
                <a:spcPts val="0"/>
              </a:spcBef>
              <a:spcAft>
                <a:spcPts val="0"/>
              </a:spcAft>
            </a:pPr>
            <a:r>
              <a:rPr sz="1400" b="0">
                <a:solidFill>
                  <a:srgbClr val="A8ACB8"/>
                </a:solidFill>
                <a:latin typeface="Calibri"/>
              </a:rPr>
              <a:t>This is not a claim of legal privilege, immunity from a compromised host operator, or protection for data still inside a retention window.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PROCESS</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07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How evaluation works.</a:t>
            </a:r>
          </a:p>
        </p:txBody>
      </p:sp>
      <p:sp>
        <p:nvSpPr>
          <p:cNvPr id="17" name="Rounded Rectangle 16"/>
          <p:cNvSpPr/>
          <p:nvPr/>
        </p:nvSpPr>
        <p:spPr>
          <a:xfrm>
            <a:off x="502920" y="2103120"/>
            <a:ext cx="3566160" cy="3749039"/>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304288"/>
            <a:ext cx="3054096" cy="219456"/>
          </a:xfrm>
          <a:prstGeom prst="rect">
            <a:avLst/>
          </a:prstGeom>
          <a:noFill/>
        </p:spPr>
        <p:txBody>
          <a:bodyPr wrap="square" anchor="t"/>
          <a:lstStyle/>
          <a:p>
            <a:pPr algn="l">
              <a:spcBef>
                <a:spcPts val="0"/>
              </a:spcBef>
              <a:spcAft>
                <a:spcPts val="0"/>
              </a:spcAft>
            </a:pPr>
            <a:r>
              <a:rPr sz="1000" b="1">
                <a:solidFill>
                  <a:srgbClr val="5AAAB0"/>
                </a:solidFill>
                <a:latin typeface="Calibri"/>
              </a:rPr>
              <a:t>01</a:t>
            </a:r>
          </a:p>
        </p:txBody>
      </p:sp>
      <p:sp>
        <p:nvSpPr>
          <p:cNvPr id="19" name="TextBox 18"/>
          <p:cNvSpPr txBox="1"/>
          <p:nvPr/>
        </p:nvSpPr>
        <p:spPr>
          <a:xfrm>
            <a:off x="758952" y="2542032"/>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Review</a:t>
            </a:r>
          </a:p>
        </p:txBody>
      </p:sp>
      <p:sp>
        <p:nvSpPr>
          <p:cNvPr id="20" name="TextBox 19"/>
          <p:cNvSpPr txBox="1"/>
          <p:nvPr/>
        </p:nvSpPr>
        <p:spPr>
          <a:xfrm>
            <a:off x="758952" y="2907792"/>
            <a:ext cx="3054096" cy="2779775"/>
          </a:xfrm>
          <a:prstGeom prst="rect">
            <a:avLst/>
          </a:prstGeom>
          <a:noFill/>
        </p:spPr>
        <p:txBody>
          <a:bodyPr wrap="square" anchor="t"/>
          <a:lstStyle/>
          <a:p>
            <a:pPr algn="l">
              <a:spcBef>
                <a:spcPts val="0"/>
              </a:spcBef>
              <a:spcAft>
                <a:spcPts val="0"/>
              </a:spcAft>
            </a:pPr>
            <a:r>
              <a:rPr sz="1300" b="0">
                <a:solidFill>
                  <a:srgbClr val="A8ACB8"/>
                </a:solidFill>
                <a:latin typeface="Calibri"/>
              </a:rPr>
              <a:t>Read the constitution, language guide, threat model, and DPA template. They are the product, not a brochure.</a:t>
            </a:r>
          </a:p>
        </p:txBody>
      </p:sp>
      <p:sp>
        <p:nvSpPr>
          <p:cNvPr id="21" name="Rounded Rectangle 20"/>
          <p:cNvSpPr/>
          <p:nvPr/>
        </p:nvSpPr>
        <p:spPr>
          <a:xfrm>
            <a:off x="4297680" y="2103120"/>
            <a:ext cx="3566160" cy="3749039"/>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53712" y="2304288"/>
            <a:ext cx="3054096" cy="219456"/>
          </a:xfrm>
          <a:prstGeom prst="rect">
            <a:avLst/>
          </a:prstGeom>
          <a:noFill/>
        </p:spPr>
        <p:txBody>
          <a:bodyPr wrap="square" anchor="t"/>
          <a:lstStyle/>
          <a:p>
            <a:pPr algn="l">
              <a:spcBef>
                <a:spcPts val="0"/>
              </a:spcBef>
              <a:spcAft>
                <a:spcPts val="0"/>
              </a:spcAft>
            </a:pPr>
            <a:r>
              <a:rPr sz="1000" b="1">
                <a:solidFill>
                  <a:srgbClr val="5AAAB0"/>
                </a:solidFill>
                <a:latin typeface="Calibri"/>
              </a:rPr>
              <a:t>02</a:t>
            </a:r>
          </a:p>
        </p:txBody>
      </p:sp>
      <p:sp>
        <p:nvSpPr>
          <p:cNvPr id="23" name="TextBox 22"/>
          <p:cNvSpPr txBox="1"/>
          <p:nvPr/>
        </p:nvSpPr>
        <p:spPr>
          <a:xfrm>
            <a:off x="4553712" y="2542032"/>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Run</a:t>
            </a:r>
          </a:p>
        </p:txBody>
      </p:sp>
      <p:sp>
        <p:nvSpPr>
          <p:cNvPr id="24" name="TextBox 23"/>
          <p:cNvSpPr txBox="1"/>
          <p:nvPr/>
        </p:nvSpPr>
        <p:spPr>
          <a:xfrm>
            <a:off x="4553712" y="2907792"/>
            <a:ext cx="3054096" cy="2779775"/>
          </a:xfrm>
          <a:prstGeom prst="rect">
            <a:avLst/>
          </a:prstGeom>
          <a:noFill/>
        </p:spPr>
        <p:txBody>
          <a:bodyPr wrap="square" anchor="t"/>
          <a:lstStyle/>
          <a:p>
            <a:pPr algn="l">
              <a:spcBef>
                <a:spcPts val="0"/>
              </a:spcBef>
              <a:spcAft>
                <a:spcPts val="0"/>
              </a:spcAft>
            </a:pPr>
            <a:r>
              <a:rPr sz="1300" b="0">
                <a:solidFill>
                  <a:srgbClr val="A8ACB8"/>
                </a:solidFill>
                <a:latin typeface="Calibri"/>
              </a:rPr>
              <a:t>A bounded evaluation host. Create a session, invite a colleague as a party, close, inspect the receipt.</a:t>
            </a:r>
          </a:p>
        </p:txBody>
      </p:sp>
      <p:sp>
        <p:nvSpPr>
          <p:cNvPr id="25" name="Rounded Rectangle 24"/>
          <p:cNvSpPr/>
          <p:nvPr/>
        </p:nvSpPr>
        <p:spPr>
          <a:xfrm>
            <a:off x="8092440" y="2103120"/>
            <a:ext cx="3566160" cy="3749039"/>
          </a:xfrm>
          <a:prstGeom prst="roundRect">
            <a:avLst>
              <a:gd name="adj" fmla="val 4000"/>
            </a:avLst>
          </a:prstGeom>
          <a:solidFill>
            <a:srgbClr val="22232C"/>
          </a:solidFill>
          <a:ln w="9525">
            <a:solidFill>
              <a:srgbClr val="3A3C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8472" y="2304288"/>
            <a:ext cx="3054096" cy="219456"/>
          </a:xfrm>
          <a:prstGeom prst="rect">
            <a:avLst/>
          </a:prstGeom>
          <a:noFill/>
        </p:spPr>
        <p:txBody>
          <a:bodyPr wrap="square" anchor="t"/>
          <a:lstStyle/>
          <a:p>
            <a:pPr algn="l">
              <a:spcBef>
                <a:spcPts val="0"/>
              </a:spcBef>
              <a:spcAft>
                <a:spcPts val="0"/>
              </a:spcAft>
            </a:pPr>
            <a:r>
              <a:rPr sz="1000" b="1">
                <a:solidFill>
                  <a:srgbClr val="5AAAB0"/>
                </a:solidFill>
                <a:latin typeface="Calibri"/>
              </a:rPr>
              <a:t>03</a:t>
            </a:r>
          </a:p>
        </p:txBody>
      </p:sp>
      <p:sp>
        <p:nvSpPr>
          <p:cNvPr id="27" name="TextBox 26"/>
          <p:cNvSpPr txBox="1"/>
          <p:nvPr/>
        </p:nvSpPr>
        <p:spPr>
          <a:xfrm>
            <a:off x="8348472" y="2542032"/>
            <a:ext cx="3054096" cy="347472"/>
          </a:xfrm>
          <a:prstGeom prst="rect">
            <a:avLst/>
          </a:prstGeom>
          <a:noFill/>
        </p:spPr>
        <p:txBody>
          <a:bodyPr wrap="square" anchor="t"/>
          <a:lstStyle/>
          <a:p>
            <a:pPr algn="l">
              <a:spcBef>
                <a:spcPts val="0"/>
              </a:spcBef>
              <a:spcAft>
                <a:spcPts val="0"/>
              </a:spcAft>
            </a:pPr>
            <a:r>
              <a:rPr sz="1600" b="1">
                <a:solidFill>
                  <a:srgbClr val="EDECE4"/>
                </a:solidFill>
                <a:latin typeface="Calibri"/>
              </a:rPr>
              <a:t>Decide</a:t>
            </a:r>
          </a:p>
        </p:txBody>
      </p:sp>
      <p:sp>
        <p:nvSpPr>
          <p:cNvPr id="28" name="TextBox 27"/>
          <p:cNvSpPr txBox="1"/>
          <p:nvPr/>
        </p:nvSpPr>
        <p:spPr>
          <a:xfrm>
            <a:off x="8348472" y="2907792"/>
            <a:ext cx="3054096" cy="2779775"/>
          </a:xfrm>
          <a:prstGeom prst="rect">
            <a:avLst/>
          </a:prstGeom>
          <a:noFill/>
        </p:spPr>
        <p:txBody>
          <a:bodyPr wrap="square" anchor="t"/>
          <a:lstStyle/>
          <a:p>
            <a:pPr algn="l">
              <a:spcBef>
                <a:spcPts val="0"/>
              </a:spcBef>
              <a:spcAft>
                <a:spcPts val="0"/>
              </a:spcAft>
            </a:pPr>
            <a:r>
              <a:rPr sz="1300" b="0">
                <a:solidFill>
                  <a:srgbClr val="A8ACB8"/>
                </a:solidFill>
                <a:latin typeface="Calibri"/>
              </a:rPr>
              <a:t>Provision facilitator seats. Public self-serve registration stays off. Parties still never create accounts.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0788" y="237744"/>
            <a:ext cx="28163" cy="25603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9729" y="237744"/>
            <a:ext cx="102412" cy="17922"/>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9729"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4220" y="237744"/>
            <a:ext cx="17922" cy="20994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974" y="340156"/>
            <a:ext cx="17922" cy="128016"/>
          </a:xfrm>
          <a:prstGeom prst="rect">
            <a:avLst/>
          </a:prstGeom>
          <a:solidFill>
            <a:srgbClr val="5AA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
            <a:ext cx="2011680" cy="256032"/>
          </a:xfrm>
          <a:prstGeom prst="rect">
            <a:avLst/>
          </a:prstGeom>
          <a:noFill/>
        </p:spPr>
        <p:txBody>
          <a:bodyPr wrap="square" anchor="t"/>
          <a:lstStyle/>
          <a:p>
            <a:pPr algn="l">
              <a:spcBef>
                <a:spcPts val="0"/>
              </a:spcBef>
              <a:spcAft>
                <a:spcPts val="0"/>
              </a:spcAft>
            </a:pPr>
            <a:r>
              <a:rPr sz="1000" b="1">
                <a:solidFill>
                  <a:srgbClr val="5AAAB0"/>
                </a:solidFill>
                <a:latin typeface="Calibri"/>
              </a:rPr>
              <a:t>AVELIS</a:t>
            </a:r>
          </a:p>
        </p:txBody>
      </p:sp>
      <p:sp>
        <p:nvSpPr>
          <p:cNvPr id="10" name="TextBox 9"/>
          <p:cNvSpPr txBox="1"/>
          <p:nvPr/>
        </p:nvSpPr>
        <p:spPr>
          <a:xfrm>
            <a:off x="2926080" y="256032"/>
            <a:ext cx="6035040" cy="237744"/>
          </a:xfrm>
          <a:prstGeom prst="rect">
            <a:avLst/>
          </a:prstGeom>
          <a:noFill/>
        </p:spPr>
        <p:txBody>
          <a:bodyPr wrap="square" anchor="t"/>
          <a:lstStyle/>
          <a:p>
            <a:pPr algn="l">
              <a:spcBef>
                <a:spcPts val="0"/>
              </a:spcBef>
              <a:spcAft>
                <a:spcPts val="0"/>
              </a:spcAft>
            </a:pPr>
            <a:r>
              <a:rPr sz="1000" b="0">
                <a:solidFill>
                  <a:srgbClr val="787C88"/>
                </a:solidFill>
                <a:latin typeface="Calibri"/>
              </a:rPr>
              <a:t>INSTITUTIONAL EVALUATION  ·  CLOSE</a:t>
            </a:r>
          </a:p>
        </p:txBody>
      </p:sp>
      <p:sp>
        <p:nvSpPr>
          <p:cNvPr id="11" name="TextBox 10"/>
          <p:cNvSpPr txBox="1"/>
          <p:nvPr/>
        </p:nvSpPr>
        <p:spPr>
          <a:xfrm>
            <a:off x="9326880" y="256032"/>
            <a:ext cx="2331720" cy="237744"/>
          </a:xfrm>
          <a:prstGeom prst="rect">
            <a:avLst/>
          </a:prstGeom>
          <a:noFill/>
        </p:spPr>
        <p:txBody>
          <a:bodyPr wrap="square" anchor="t"/>
          <a:lstStyle/>
          <a:p>
            <a:pPr algn="r">
              <a:spcBef>
                <a:spcPts val="0"/>
              </a:spcBef>
              <a:spcAft>
                <a:spcPts val="0"/>
              </a:spcAft>
            </a:pPr>
            <a:r>
              <a:rPr sz="1000" b="0">
                <a:solidFill>
                  <a:srgbClr val="787C88"/>
                </a:solidFill>
                <a:latin typeface="Consolas"/>
              </a:rPr>
              <a:t>08 / 08</a:t>
            </a:r>
          </a:p>
        </p:txBody>
      </p:sp>
      <p:sp>
        <p:nvSpPr>
          <p:cNvPr id="12" name="Rectangle 11"/>
          <p:cNvSpPr/>
          <p:nvPr/>
        </p:nvSpPr>
        <p:spPr>
          <a:xfrm>
            <a:off x="502920" y="603504"/>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6601968"/>
            <a:ext cx="11201400" cy="6350"/>
          </a:xfrm>
          <a:prstGeom prst="rect">
            <a:avLst/>
          </a:prstGeom>
          <a:solidFill>
            <a:srgbClr val="3A3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620256"/>
            <a:ext cx="7315200" cy="201168"/>
          </a:xfrm>
          <a:prstGeom prst="rect">
            <a:avLst/>
          </a:prstGeom>
          <a:noFill/>
        </p:spPr>
        <p:txBody>
          <a:bodyPr wrap="square" anchor="t"/>
          <a:lstStyle/>
          <a:p>
            <a:pPr algn="l">
              <a:spcBef>
                <a:spcPts val="0"/>
              </a:spcBef>
              <a:spcAft>
                <a:spcPts val="0"/>
              </a:spcAft>
            </a:pPr>
            <a:r>
              <a:rPr sz="900" b="0">
                <a:solidFill>
                  <a:srgbClr val="787C88"/>
                </a:solidFill>
                <a:latin typeface="Calibri"/>
              </a:rPr>
              <a:t>Confidential  ·  Not a transcript product</a:t>
            </a:r>
          </a:p>
        </p:txBody>
      </p:sp>
      <p:sp>
        <p:nvSpPr>
          <p:cNvPr id="15" name="TextBox 14"/>
          <p:cNvSpPr txBox="1"/>
          <p:nvPr/>
        </p:nvSpPr>
        <p:spPr>
          <a:xfrm>
            <a:off x="8595360" y="6620256"/>
            <a:ext cx="3108960" cy="201168"/>
          </a:xfrm>
          <a:prstGeom prst="rect">
            <a:avLst/>
          </a:prstGeom>
          <a:noFill/>
        </p:spPr>
        <p:txBody>
          <a:bodyPr wrap="square" anchor="t"/>
          <a:lstStyle/>
          <a:p>
            <a:pPr algn="r">
              <a:spcBef>
                <a:spcPts val="0"/>
              </a:spcBef>
              <a:spcAft>
                <a:spcPts val="0"/>
              </a:spcAft>
            </a:pPr>
            <a:r>
              <a:rPr sz="900" b="0">
                <a:solidFill>
                  <a:srgbClr val="787C88"/>
                </a:solidFill>
                <a:latin typeface="Consolas"/>
              </a:rPr>
              <a:t>avelis.org</a:t>
            </a:r>
          </a:p>
        </p:txBody>
      </p:sp>
      <p:sp>
        <p:nvSpPr>
          <p:cNvPr id="16" name="TextBox 15"/>
          <p:cNvSpPr txBox="1"/>
          <p:nvPr/>
        </p:nvSpPr>
        <p:spPr>
          <a:xfrm>
            <a:off x="502920" y="749808"/>
            <a:ext cx="11201400" cy="868680"/>
          </a:xfrm>
          <a:prstGeom prst="rect">
            <a:avLst/>
          </a:prstGeom>
          <a:noFill/>
        </p:spPr>
        <p:txBody>
          <a:bodyPr wrap="square" anchor="t"/>
          <a:lstStyle/>
          <a:p>
            <a:pPr algn="l">
              <a:spcBef>
                <a:spcPts val="0"/>
              </a:spcBef>
              <a:spcAft>
                <a:spcPts val="0"/>
              </a:spcAft>
            </a:pPr>
            <a:r>
              <a:rPr sz="2600" b="1">
                <a:solidFill>
                  <a:srgbClr val="EDECE4"/>
                </a:solidFill>
                <a:latin typeface="Calibri"/>
              </a:rPr>
              <a:t>Request institutional evaluation.</a:t>
            </a:r>
          </a:p>
        </p:txBody>
      </p:sp>
      <p:sp>
        <p:nvSpPr>
          <p:cNvPr id="17" name="TextBox 16"/>
          <p:cNvSpPr txBox="1"/>
          <p:nvPr/>
        </p:nvSpPr>
        <p:spPr>
          <a:xfrm>
            <a:off x="502920" y="2194560"/>
            <a:ext cx="10972800" cy="1280160"/>
          </a:xfrm>
          <a:prstGeom prst="rect">
            <a:avLst/>
          </a:prstGeom>
          <a:noFill/>
        </p:spPr>
        <p:txBody>
          <a:bodyPr wrap="square" anchor="t"/>
          <a:lstStyle/>
          <a:p>
            <a:pPr algn="l">
              <a:spcBef>
                <a:spcPts val="0"/>
              </a:spcBef>
              <a:spcAft>
                <a:spcPts val="0"/>
              </a:spcAft>
            </a:pPr>
            <a:r>
              <a:rPr sz="1800" b="0">
                <a:solidFill>
                  <a:srgbClr val="A8ACB8"/>
                </a:solidFill>
                <a:latin typeface="Calibri"/>
              </a:rPr>
              <a:t>Room messages are delivered live and are not stored by Avelis. Closing ends room access and destroys the live room. Messages cannot be recovered.</a:t>
            </a:r>
          </a:p>
        </p:txBody>
      </p:sp>
      <p:sp>
        <p:nvSpPr>
          <p:cNvPr id="18" name="TextBox 17"/>
          <p:cNvSpPr txBox="1"/>
          <p:nvPr/>
        </p:nvSpPr>
        <p:spPr>
          <a:xfrm>
            <a:off x="502920" y="4023360"/>
            <a:ext cx="10972800" cy="731520"/>
          </a:xfrm>
          <a:prstGeom prst="rect">
            <a:avLst/>
          </a:prstGeom>
          <a:noFill/>
        </p:spPr>
        <p:txBody>
          <a:bodyPr wrap="square" anchor="t"/>
          <a:lstStyle/>
          <a:p>
            <a:pPr algn="l">
              <a:spcBef>
                <a:spcPts val="0"/>
              </a:spcBef>
              <a:spcAft>
                <a:spcPts val="0"/>
              </a:spcAft>
            </a:pPr>
            <a:r>
              <a:rPr sz="1600" b="1">
                <a:solidFill>
                  <a:srgbClr val="EDECE4"/>
                </a:solidFill>
                <a:latin typeface="Calibri"/>
              </a:rPr>
              <a:t>Tyler Brasseaux  ·  Founder &amp; systems architect  ·  Avelis is provisioned for organizations, not signed up as a consumer 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