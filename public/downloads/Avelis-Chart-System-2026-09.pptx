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billions</c:v>
                </c:pt>
              </c:strCache>
            </c:strRef>
          </c:tx>
          <c:spPr>
            <a:solidFill>
              <a:srgbClr val="5AAAB0"/>
            </a:solidFill>
            <a:ln>
              <a:noFill/>
            </a:ln>
          </c:spPr>
          <c:dPt>
            <c:idx val="0"/>
            <c:spPr>
              <a:solidFill>
                <a:srgbClr val="5AAAB0"/>
              </a:solidFill>
              <a:ln>
                <a:noFill/>
              </a:ln>
            </c:spPr>
          </c:dPt>
          <c:dPt>
            <c:idx val="1"/>
            <c:spPr>
              <a:solidFill>
                <a:srgbClr val="8FC9CD"/>
              </a:solidFill>
              <a:ln>
                <a:noFill/>
              </a:ln>
            </c:spPr>
          </c:dPt>
          <c:dPt>
            <c:idx val="2"/>
            <c:spPr>
              <a:solidFill>
                <a:srgbClr val="3D7A80"/>
              </a:solidFill>
              <a:ln>
                <a:noFill/>
              </a:ln>
            </c:spPr>
          </c:dPt>
          <c:dPt>
            <c:idx val="3"/>
            <c:spPr>
              <a:solidFill>
                <a:srgbClr val="2F5E63"/>
              </a:solidFill>
              <a:ln>
                <a:noFill/>
              </a:ln>
            </c:spPr>
          </c:dPt>
          <c:dPt>
            <c:idx val="4"/>
            <c:spPr>
              <a:solidFill>
                <a:srgbClr val="A8ACB8"/>
              </a:solidFill>
              <a:ln>
                <a:noFill/>
              </a:ln>
            </c:spPr>
          </c:dPt>
          <c:dPt>
            <c:idx val="5"/>
            <c:spPr>
              <a:solidFill>
                <a:srgbClr val="5AAAB0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ADR '25</c:v>
                </c:pt>
                <c:pt idx="1">
                  <c:v>ADR '32</c:v>
                </c:pt>
                <c:pt idx="2">
                  <c:v>Conflict</c:v>
                </c:pt>
                <c:pt idx="3">
                  <c:v>Privacy</c:v>
                </c:pt>
                <c:pt idx="4">
                  <c:v>Secure msg</c:v>
                </c:pt>
                <c:pt idx="5">
                  <c:v>eDisc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9.1</c:v>
                </c:pt>
                <c:pt idx="1">
                  <c:v>14.3</c:v>
                </c:pt>
                <c:pt idx="2">
                  <c:v>10.0</c:v>
                </c:pt>
                <c:pt idx="3">
                  <c:v>12.4</c:v>
                </c:pt>
                <c:pt idx="4">
                  <c:v>12.4</c:v>
                </c:pt>
                <c:pt idx="5">
                  <c:v>19.6</c:v>
                </c:pt>
              </c:numCache>
            </c:numRef>
          </c:val>
        </c:ser>
        <c:dLbls>
          <c:numFmt formatCode="&quot;$&quot;#,##0.0" sourceLinked="0"/>
          <c:txPr>
            <a:bodyPr/>
            <a:lstStyle/>
            <a:p>
              <a:pPr>
                <a:defRPr sz="1000" b="1">
                  <a:solidFill>
                    <a:srgbClr val="EDECE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catAx>
      <c:valAx>
        <c:axId val="-2113994440"/>
        <c:scaling/>
        <c:delete val="0"/>
        <c:axPos val="l"/>
        <c:majorGridlines>
          <c:spPr>
            <a:noFill/>
            <a:ln w="6350">
              <a:solidFill>
                <a:srgbClr val="3A3C48"/>
              </a:solidFill>
            </a:ln>
          </c:spPr>
        </c:majorGridlines>
        <c:numFmt formatCode="&quot;$&quot;#,##0.0" sourceLinked="0"/>
        <c:majorTickMark val="none"/>
        <c:minorTickMark val="none"/>
        <c:tickLblPos val="nextTo"/>
        <c:crossAx val="-2068027336"/>
        <c:crosses val="autoZero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valAx>
      <c:spPr>
        <a:solidFill>
          <a:srgbClr val="22232C"/>
        </a:solidFill>
        <a:ln w="12700">
          <a:noFill/>
        </a:ln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4141C"/>
    </a:solidFill>
    <a:ln w="12700">
      <a:noFill/>
    </a:ln>
  </c:spPr>
  <c:roundedCorners val="0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ln w="28575">
              <a:solidFill>
                <a:srgbClr val="787C88"/>
              </a:solidFill>
            </a:ln>
          </c:spPr>
          <c:marker>
            <c:symbol val="circle"/>
            <c:size val="7"/>
            <c:spPr>
              <a:solidFill>
                <a:srgbClr val="787C88"/>
              </a:solidFill>
              <a:ln>
                <a:solidFill>
                  <a:srgbClr val="787C88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0.52</c:v>
                </c:pt>
                <c:pt idx="2">
                  <c:v>1.5</c:v>
                </c:pt>
                <c:pt idx="3">
                  <c:v>3.4</c:v>
                </c:pt>
                <c:pt idx="4">
                  <c:v>6.8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8575">
              <a:solidFill>
                <a:srgbClr val="5AAAB0"/>
              </a:solidFill>
            </a:ln>
          </c:spPr>
          <c:marker>
            <c:symbol val="circle"/>
            <c:size val="7"/>
            <c:spPr>
              <a:solidFill>
                <a:srgbClr val="5AAAB0"/>
              </a:solidFill>
              <a:ln>
                <a:solidFill>
                  <a:srgbClr val="5AAAB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0.36</c:v>
                </c:pt>
                <c:pt idx="1">
                  <c:v>1.15</c:v>
                </c:pt>
                <c:pt idx="2">
                  <c:v>3.4</c:v>
                </c:pt>
                <c:pt idx="3">
                  <c:v>7.4</c:v>
                </c:pt>
                <c:pt idx="4">
                  <c:v>14.8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ln w="28575">
              <a:solidFill>
                <a:srgbClr val="8FC9CD"/>
              </a:solidFill>
            </a:ln>
          </c:spPr>
          <c:marker>
            <c:symbol val="circle"/>
            <c:size val="7"/>
            <c:spPr>
              <a:solidFill>
                <a:srgbClr val="8FC9CD"/>
              </a:solidFill>
              <a:ln>
                <a:solidFill>
                  <a:srgbClr val="8FC9C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0.55</c:v>
                </c:pt>
                <c:pt idx="1">
                  <c:v>1.9</c:v>
                </c:pt>
                <c:pt idx="2">
                  <c:v>5.8</c:v>
                </c:pt>
                <c:pt idx="3">
                  <c:v>13.0</c:v>
                </c:pt>
                <c:pt idx="4">
                  <c:v>26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catAx>
      <c:valAx>
        <c:axId val="2140495176"/>
        <c:scaling/>
        <c:delete val="0"/>
        <c:axPos val="l"/>
        <c:majorGridlines>
          <c:spPr>
            <a:noFill/>
            <a:ln w="6350">
              <a:solidFill>
                <a:srgbClr val="3A3C48"/>
              </a:solidFill>
            </a:ln>
          </c:spPr>
        </c:majorGridlines>
        <c:numFmt formatCode="0.0" sourceLinked="0"/>
        <c:majorTickMark val="none"/>
        <c:minorTickMark val="none"/>
        <c:tickLblPos val="nextTo"/>
        <c:crossAx val="2118791784"/>
        <c:crosses val="autoZero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valAx>
      <c:spPr>
        <a:solidFill>
          <a:srgbClr val="22232C"/>
        </a:solidFill>
        <a:ln w="12700">
          <a:noFill/>
        </a:ln>
      </c:spPr>
    </c:plotArea>
    <c:legend>
      <c:legendPos val="b"/>
      <c:layout/>
      <c:overlay val="0"/>
      <c:spPr>
        <a:noFill/>
        <a:ln w="12700">
          <a:noFill/>
        </a:ln>
      </c:spPr>
      <c:txPr>
        <a:bodyPr/>
        <a:lstStyle/>
        <a:p>
          <a:pPr>
            <a:defRPr sz="1000" b="0">
              <a:solidFill>
                <a:srgbClr val="A8ACB8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4141C"/>
    </a:solidFill>
    <a:ln w="12700">
      <a:noFill/>
    </a:ln>
  </c:spPr>
  <c:roundedCorners val="0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Practice ACV mix</c:v>
                </c:pt>
              </c:strCache>
            </c:strRef>
          </c:tx>
          <c:spPr>
            <a:solidFill>
              <a:srgbClr val="5AAAB0">
                <a:alpha val="42000"/>
              </a:srgbClr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0.3</c:v>
                </c:pt>
                <c:pt idx="2">
                  <c:v>0.7</c:v>
                </c:pt>
                <c:pt idx="3">
                  <c:v>1.4</c:v>
                </c:pt>
                <c:pt idx="4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Firm / ADR</c:v>
                </c:pt>
              </c:strCache>
            </c:strRef>
          </c:tx>
          <c:spPr>
            <a:solidFill>
              <a:srgbClr val="8FC9CD">
                <a:alpha val="42000"/>
              </a:srgbClr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0.12</c:v>
                </c:pt>
                <c:pt idx="1">
                  <c:v>0.45</c:v>
                </c:pt>
                <c:pt idx="2">
                  <c:v>1.4</c:v>
                </c:pt>
                <c:pt idx="3">
                  <c:v>3.2</c:v>
                </c:pt>
                <c:pt idx="4">
                  <c:v>6.4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Corporate / residency</c:v>
                </c:pt>
              </c:strCache>
            </c:strRef>
          </c:tx>
          <c:spPr>
            <a:solidFill>
              <a:srgbClr val="3D7A80">
                <a:alpha val="42000"/>
              </a:srgbClr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FY27</c:v>
                </c:pt>
                <c:pt idx="1">
                  <c:v>FY28</c:v>
                </c:pt>
                <c:pt idx="2">
                  <c:v>FY29</c:v>
                </c:pt>
                <c:pt idx="3">
                  <c:v>FY30</c:v>
                </c:pt>
                <c:pt idx="4">
                  <c:v>FY31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0.06</c:v>
                </c:pt>
                <c:pt idx="1">
                  <c:v>0.3</c:v>
                </c:pt>
                <c:pt idx="2">
                  <c:v>1.0</c:v>
                </c:pt>
                <c:pt idx="3">
                  <c:v>2.2</c:v>
                </c:pt>
                <c:pt idx="4">
                  <c:v>4.4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catAx>
      <c:valAx>
        <c:axId val="-2100718248"/>
        <c:scaling>
          <c:orientation val="minMax"/>
        </c:scaling>
        <c:delete val="0"/>
        <c:axPos val="l"/>
        <c:majorGridlines>
          <c:spPr>
            <a:noFill/>
            <a:ln w="6350">
              <a:solidFill>
                <a:srgbClr val="3A3C48"/>
              </a:solidFill>
            </a:ln>
          </c:spPr>
        </c:majorGridlines>
        <c:numFmt formatCode="0.0" sourceLinked="0"/>
        <c:majorTickMark val="none"/>
        <c:minorTickMark val="none"/>
        <c:tickLblPos val="nextTo"/>
        <c:crossAx val="-2101159928"/>
        <c:crosses val="autoZero"/>
        <c:crossBetween val="midCat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valAx>
      <c:spPr>
        <a:solidFill>
          <a:srgbClr val="22232C"/>
        </a:solidFill>
        <a:ln w="12700">
          <a:noFill/>
        </a:ln>
      </c:spPr>
    </c:plotArea>
    <c:legend>
      <c:legendPos val="b"/>
      <c:layout/>
      <c:overlay val="0"/>
      <c:spPr>
        <a:noFill/>
        <a:ln w="12700">
          <a:noFill/>
        </a:ln>
      </c:spPr>
      <c:txPr>
        <a:bodyPr/>
        <a:lstStyle/>
        <a:p>
          <a:pPr>
            <a:defRPr sz="1000" b="0">
              <a:solidFill>
                <a:srgbClr val="A8ACB8"/>
              </a:solidFill>
              <a:latin typeface="Calibri"/>
            </a:defRPr>
          </a:pPr>
          <a:endParaRPr lang="en-US"/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solidFill>
      <a:srgbClr val="14141C"/>
    </a:solidFill>
    <a:ln w="1270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$k</c:v>
                </c:pt>
              </c:strCache>
            </c:strRef>
          </c:tx>
          <c:spPr>
            <a:solidFill>
              <a:srgbClr val="5AAAB0"/>
            </a:solidFill>
            <a:ln>
              <a:noFill/>
            </a:ln>
          </c:spPr>
          <c:dPt>
            <c:idx val="0"/>
            <c:spPr>
              <a:solidFill>
                <a:srgbClr val="5AAAB0"/>
              </a:solidFill>
              <a:ln>
                <a:noFill/>
              </a:ln>
            </c:spPr>
          </c:dPt>
          <c:dPt>
            <c:idx val="1"/>
            <c:spPr>
              <a:solidFill>
                <a:srgbClr val="8FC9CD"/>
              </a:solidFill>
              <a:ln>
                <a:noFill/>
              </a:ln>
            </c:spPr>
          </c:dPt>
          <c:dPt>
            <c:idx val="2"/>
            <c:spPr>
              <a:solidFill>
                <a:srgbClr val="3D7A80"/>
              </a:solidFill>
              <a:ln>
                <a:noFill/>
              </a:ln>
            </c:spPr>
          </c:dPt>
          <c:dPt>
            <c:idx val="3"/>
            <c:spPr>
              <a:solidFill>
                <a:srgbClr val="2F5E63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Sales</c:v>
                </c:pt>
                <c:pt idx="2">
                  <c:v>Legal</c:v>
                </c:pt>
                <c:pt idx="3">
                  <c:v>Infra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900</c:v>
                </c:pt>
                <c:pt idx="1">
                  <c:v>500</c:v>
                </c:pt>
                <c:pt idx="2">
                  <c:v>300</c:v>
                </c:pt>
                <c:pt idx="3">
                  <c:v>300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sz="1000" b="1">
                  <a:solidFill>
                    <a:srgbClr val="EDECE4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solidFill>
          <a:srgbClr val="22232C"/>
        </a:solidFill>
        <a:ln w="12700">
          <a:noFill/>
        </a:ln>
      </c:spPr>
    </c:plotArea>
    <c:legend>
      <c:legendPos val="b"/>
      <c:layout/>
      <c:overlay val="0"/>
      <c:spPr>
        <a:noFill/>
        <a:ln w="12700">
          <a:noFill/>
        </a:ln>
      </c:spPr>
      <c:txPr>
        <a:bodyPr/>
        <a:lstStyle/>
        <a:p>
          <a:pPr>
            <a:defRPr sz="1000" b="0">
              <a:solidFill>
                <a:srgbClr val="A8ACB8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  <c:spPr>
    <a:solidFill>
      <a:srgbClr val="14141C"/>
    </a:solidFill>
    <a:ln w="1270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 $900k</c:v>
                </c:pt>
              </c:strCache>
            </c:strRef>
          </c:tx>
          <c:spPr>
            <a:solidFill>
              <a:srgbClr val="5AAAB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$2.0M seed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$500k</c:v>
                </c:pt>
              </c:strCache>
            </c:strRef>
          </c:tx>
          <c:spPr>
            <a:solidFill>
              <a:srgbClr val="8FC9CD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$2.0M seed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Legal $300k</c:v>
                </c:pt>
              </c:strCache>
            </c:strRef>
          </c:tx>
          <c:spPr>
            <a:solidFill>
              <a:srgbClr val="3D7A8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$2.0M seed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Infra $300k</c:v>
                </c:pt>
              </c:strCache>
            </c:strRef>
          </c:tx>
          <c:spPr>
            <a:solidFill>
              <a:srgbClr val="2F5E63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$2.0M seed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>
                  <a:solidFill>
                    <a:srgbClr val="EDECE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catAx>
      <c:valAx>
        <c:axId val="-2113994440"/>
        <c:scaling/>
        <c:delete val="0"/>
        <c:axPos val="b"/>
        <c:majorGridlines>
          <c:spPr>
            <a:noFill/>
            <a:ln w="6350">
              <a:solidFill>
                <a:srgbClr val="3A3C48"/>
              </a:solidFill>
            </a:ln>
          </c:spPr>
        </c:majorGridlines>
        <c:numFmt formatCode="&quot;$&quot;#,##0" sourceLinked="0"/>
        <c:majorTickMark val="none"/>
        <c:minorTickMark val="none"/>
        <c:tickLblPos val="nextTo"/>
        <c:crossAx val="-2068027336"/>
        <c:crosses val="autoZero"/>
        <c:spPr>
          <a:noFill/>
          <a:ln w="6350">
            <a:solidFill>
              <a:srgbClr val="3A3C48"/>
            </a:solidFill>
          </a:ln>
        </c:spPr>
        <c:txPr>
          <a:bodyPr/>
          <a:lstStyle/>
          <a:p>
            <a:pPr>
              <a:defRPr sz="1000" b="0">
                <a:solidFill>
                  <a:srgbClr val="787C88"/>
                </a:solidFill>
                <a:latin typeface="Calibri"/>
              </a:defRPr>
            </a:pPr>
            <a:endParaRPr lang="en-US"/>
          </a:p>
        </c:txPr>
      </c:valAx>
      <c:spPr>
        <a:solidFill>
          <a:srgbClr val="22232C"/>
        </a:solidFill>
        <a:ln w="12700">
          <a:noFill/>
        </a:ln>
      </c:spPr>
    </c:plotArea>
    <c:legend>
      <c:legendPos val="b"/>
      <c:overlay val="0"/>
      <c:spPr>
        <a:noFill/>
        <a:ln w="12700">
          <a:noFill/>
        </a:ln>
      </c:spPr>
      <c:txPr>
        <a:bodyPr/>
        <a:lstStyle/>
        <a:p>
          <a:pPr>
            <a:defRPr sz="1000" b="0">
              <a:solidFill>
                <a:srgbClr val="A8ACB8"/>
              </a:solidFill>
              <a:latin typeface="Calibri"/>
            </a:defRPr>
          </a:pPr>
          <a:endParaRPr lang="en-US"/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14141C"/>
    </a:solidFill>
    <a:ln w="12700">
      <a:noFill/>
    </a:ln>
  </c:spPr>
  <c:roundedCorners val="0"/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file is a techniques deck. The investor and financial appendix files now use the same helpers.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 is a data point with its own fill from TEAL_FAMILY. The plot area is SURFACE, canvas is BG. Labels use a quoted-dollar number format so PowerPoint keeps them as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width 2.25pt, circle markers size 7, series.smooth = True. Legend is excluded from the plot layout so it does not steal plot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Area charts get a:alpha ~42% on the solid fill so overlapping series do not become slabs. Values here illustrate mix, not a second operating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mix as the seed ask. Hole size is written on c:doughnutChart/c:holeSize. Slices take TEAL_FAMILY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gapWidth 70. One category keeps the bar thick. Prefer this over a fake 100% stacked when the dollar amounts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chart reverts to Office accent colors after a theme change, re-run scripts/build-pptx.py. Do not paste screenshots of charts into these decks.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CHART SYSTEM  ·  NATIVE OFFICE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01 /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Charts are PowerPoint objects, not pictures.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01168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8ACB8"/>
                </a:solidFill>
                <a:latin typeface="Calibri"/>
              </a:rPr>
              <a:t>python-pptx writes real c:chart XML. Double-click any chart in PowerPoint to edit values. Dark fill, teal series, and muted ticks are applied on top of the Office chart so they survive restyling.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A8ACB8"/>
                </a:solidFill>
                <a:latin typeface="Calibri"/>
              </a:rPr>
              <a:t>Series fill / line via series.format (API).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ACB8"/>
                </a:solidFill>
                <a:latin typeface="Calibri"/>
              </a:rPr>
              <a:t>Per-point color via series.points[i].format.fill (API).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ACB8"/>
                </a:solidFill>
                <a:latin typeface="Calibri"/>
              </a:rPr>
              <a:t>Markers, smooth lines, gap width, hole size, number formats (API).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A8ACB8"/>
                </a:solidFill>
                <a:latin typeface="Calibri"/>
              </a:rPr>
              <a:t>Chart space, plot area, gridlines, legend type via DrawingML spPr/txPr (XML python-pptx does not wrap).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CHART SYSTEM  · 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02 /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Clustered columns — per-point teal family, outside-end labels.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1965960"/>
          <a:ext cx="11155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CHART SYSTEM  · 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03 /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Smooth line-markers — three series, bottom legend, no value labels.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1965960"/>
          <a:ext cx="11155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CHART SYSTEM  · 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04 /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Stacked area — alpha on fills so series remain readable on dark.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1965960"/>
          <a:ext cx="11155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CHART SYSTEM  ·  DOUGHNUT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05 /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Doughnut — holeSize 62, per-slice color, dollar labels.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1371600" y="1828800"/>
          <a:ext cx="93268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CHART SYSTEM  ·  STACKED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06 /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Single-category stacked bar — composition in one bar.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2103120"/>
          <a:ext cx="111556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0788" y="237744"/>
            <a:ext cx="28163" cy="25603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9729" y="237744"/>
            <a:ext cx="102412" cy="17922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9729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4220" y="237744"/>
            <a:ext cx="17922" cy="20994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974" y="340156"/>
            <a:ext cx="17922" cy="128016"/>
          </a:xfrm>
          <a:prstGeom prst="rect">
            <a:avLst/>
          </a:prstGeom>
          <a:solidFill>
            <a:srgbClr val="5AA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7744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AAAB0"/>
                </a:solidFill>
                <a:latin typeface="Calibri"/>
              </a:rPr>
              <a:t>AVELIS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"/>
            <a:ext cx="603504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alibri"/>
              </a:rPr>
              <a:t>CHART SYSTEM  ·  WHAT WE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56032"/>
            <a:ext cx="23317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87C88"/>
                </a:solidFill>
                <a:latin typeface="Consolas"/>
              </a:rPr>
              <a:t>07 /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03504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601968"/>
            <a:ext cx="11201400" cy="6350"/>
          </a:xfrm>
          <a:prstGeom prst="rect">
            <a:avLst/>
          </a:prstGeom>
          <a:solidFill>
            <a:srgbClr val="3A3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20256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alibri"/>
              </a:rPr>
              <a:t>Confidential  ·  Not a transcript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620256"/>
            <a:ext cx="31089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7C88"/>
                </a:solidFill>
                <a:latin typeface="Consolas"/>
              </a:rPr>
              <a:t>avelis.org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749808"/>
            <a:ext cx="11201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DECE4"/>
                </a:solidFill>
                <a:latin typeface="Calibri"/>
              </a:rPr>
              <a:t>API vs DrawingML — so a later editor knows what to touch.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1965960"/>
          <a:ext cx="113385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87C88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Series / point fill &amp; line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series.format / points[i]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Office theme accents are purple-blue; we force teal.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Markers + smooth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LineSeries.marker / .smooth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Institutional, not sparkline.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Number formats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tick_labels / data_labels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Keep values numeric so PowerPoint can recast.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Gap width / hole size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plot.gap_width / c:holeSize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Density without 3D effects.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Chart &amp; plot fill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c:chartSpace/c:spPr XML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API has no chart-area fill.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Axis, grid, legend type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c:txPr + c:spPr XML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Default ticks are black on dark.</a:t>
                      </a:r>
                    </a:p>
                  </a:txBody>
                  <a:tcPr>
                    <a:solidFill>
                      <a:srgbClr val="2A2C36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DECE4"/>
                          </a:solidFill>
                          <a:latin typeface="Calibri"/>
                        </a:rPr>
                        <a:t>Not used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Pictures, 3D, cones, glow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A8ACB8"/>
                          </a:solidFill>
                          <a:latin typeface="Calibri"/>
                        </a:rPr>
                        <a:t>Visual system: no decoration, no security theater.</a:t>
                      </a:r>
                    </a:p>
                  </a:txBody>
                  <a:tcPr>
                    <a:solidFill>
                      <a:srgbClr val="22232C"/>
                    </a:solidFill>
                    <a:lnL w="6350">
                      <a:solidFill>
                        <a:srgbClr val="3A3C48"/>
                      </a:solidFill>
                    </a:lnL>
                    <a:lnR w="6350">
                      <a:solidFill>
                        <a:srgbClr val="3A3C48"/>
                      </a:solidFill>
                    </a:lnR>
                    <a:lnT w="6350">
                      <a:solidFill>
                        <a:srgbClr val="3A3C48"/>
                      </a:solidFill>
                    </a:lnT>
                    <a:lnB w="6350">
                      <a:solidFill>
                        <a:srgbClr val="3A3C4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